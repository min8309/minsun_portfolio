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8229600" cx="14630400"/>
  <p:notesSz cx="6858000" cy="9144000"/>
  <p:embeddedFontLst>
    <p:embeddedFont>
      <p:font typeface="Sen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jxvgBapdbNpUK8Vy834xBpL2+6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Sen-bold.fntdata"/><Relationship Id="rId21" Type="http://schemas.openxmlformats.org/officeDocument/2006/relationships/slide" Target="slides/slide16.xml"/><Relationship Id="rId43" Type="http://schemas.openxmlformats.org/officeDocument/2006/relationships/font" Target="fonts/Sen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Park Min Sun. 2025년 1~4분기 분석. 첨부 발표자료, 핵심 코드 해설 PDF, 가독성 컬러 리뉴얼 PDF를 통합했습니다. 원본 이미지와 코드 근거는 각 주제에서 설명합니다.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목적이 달라지면 같은 상권의 해석도 달라진다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방문 목적과 창업 목적에 맞는 지표를 분리했습니다.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CONSUMER / 어디서 놀까? / 2030 비중과 주말·야간 활동량을 함께 비교합니다.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/ 어디서 벌까? / 업종별 매출과 수요·폐업점포 비율을 함께 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/ 어떻게 연결할까? / 공통 데이터마트 위에 추천 규칙·매출 추정·웹 화면을 구성합니다.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추천 점수는 규칙 기반 상대평가, 머신러닝 출력은 예상 월매출입니다.</a:t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src/01~08: 처리와 추천. src/09~12: 학습·평가. src/app.py: 화면과 추론. data/raw, data/processed, models 구분.</a:t>
            </a:r>
            <a:endParaRPr/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파일: sales_2025.csv, store_2025.csv, population.csv, area.csv. 규모는 CSV 직접 집계. 원천 집계 정의와 라이선스는 별도 확인 필요.</a:t>
            </a:r>
            <a:endParaRPr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보관 데이터의 범위와 분석 결과의 시점을 구분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파일이 있다고 모두 추천·예측에 반영한 것은 아닙니다.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ACTIVE / 2025년 분석 / 정제 데이터 84,675행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 21,170 / Q2 21,186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 21,256 / Q4 21,063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ARCHIVE / 2024년 자료 / 매출 87,179행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점포 306,889행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현재 처리 코드에는 미반영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USED / 집객시설 / 34,716행 × 25열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결측 셀 563,750개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현재 모델·추천 입력 제외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원본이 일부 있어도 현재 서비스의 최신 핫플 결과는 2025 Q4 기준입니다.</a:t>
            </a:r>
            <a:endParaRPr/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CSV 읽기와 기준 시점 분리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서로 다른 파일을 같은 시점으로 연결하기 위한 준비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cp949로 읽고, 연분기 코드를 정수 나눗셈과 나머지로 분리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20251 → 연도 2025, 분기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 수집 자체가 아니라, 저장된 원본 CSV를 읽는 코드입니다.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https://github.com/Min8309/data_seoul/blob/b7bc901aee80e9e9cc0d17ca99ec3dc32296c704/src/01_check_data.py#L12-L21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sales = pd.read_csv(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BASE_DIR / 'data/raw/sales_2025.csv',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encoding="cp949"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년도 / 분기 분리하기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예: 20251 → 2025년 1분기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sales["기준_년_코드"] = sales["기준_년분기_코드"] //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sales["기준_분기_코드"] = sales["기준_년분기_코드"] % 10</a:t>
            </a:r>
            <a:endParaRPr/>
          </a:p>
        </p:txBody>
      </p:sp>
      <p:sp>
        <p:nvSpPr>
          <p:cNvPr id="224" name="Google Shape;2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매출과 점포를 동일한 키로 병합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상권명이 같아도 업종·분기가 다르면 다른 관측값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연도·분기·상권 코드·업종 코드로 left merge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매출의 행을 유지한 채 점포 정보를 연결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many_to_one은 우측 키 중복을 검출합니다. 결합 성공 여부는 결측으로 별도 확인합니다.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https://github.com/Min8309/data_seoul/blob/b7bc901aee80e9e9cc0d17ca99ec3dc32296c704/src/01_check_data.py#L123-L134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mart = pd.merge(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sales,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store,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on=[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"기준_년_코드",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"기준_분기_코드",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"상권_코드",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"서비스_업종_코드"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how="left",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validate="many_to_one",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인구를 상권·분기에 맞춰 연결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인구에는 업종 키가 없으므로 병합 단위를 달리 적용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연도·분기·상권 코드로 연결하고 우측 키 유일성 검증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업종별 매출 행에 같은 상권의 인구 정보가 반복됨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업종별 행의 인구를 다시 합산하면 중복 집계됩니다. 핫플 단계에서 중복을 제거합니다.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https://github.com/Min8309/data_seoul/blob/b7bc901aee80e9e9cc0d17ca99ec3dc32296c704/src/01_check_data.py#L302-L312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final_mart = pd.merge(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mart,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population_merge,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on=[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"기준_년_코드",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"기준_분기_코드",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"상권_코드"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how="left",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validate="many_to_one",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268" name="Google Shape;2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분석에 필요한 핵심 결측만 제외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의미 있는 비교에 필요한 최소 입력을 확보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월매출·총 유동인구·2030비율 중 하나라도 없으면 제외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85,732행 → 84,675행, 1,057행 제외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코드는 이상치 제거가 아닙니다. 상위 매출 처리는 모델 학습 단계에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https://github.com/Min8309/data_seoul/blob/b7bc901aee80e9e9cc0d17ca99ec3dc32296c704/src/02_clean_data.py#L38-L44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clean_df = df.dropna(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subset=[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"점포당_월매출",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"총_유동인구_수",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"2030비율"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).copy()</a:t>
            </a:r>
            <a:endParaRPr/>
          </a:p>
        </p:txBody>
      </p:sp>
      <p:sp>
        <p:nvSpPr>
          <p:cNvPr id="290" name="Google Shape;29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매출과 폐업점포 비율 만들기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단순 총매출을 점포 규모와 거래 건수로 보정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분모 0을 NA로 바꾼 뒤 객단가·월매출·폐업비율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상권·업종별 비교와 모델 타깃에 쓰는 파생변수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월매출은 분기값 ÷ 3이라는 코드 해석입니다. 원천 집계 정의 확인이 필요합니다.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https://github.com/Min8309/data_seoul/blob/b7bc901aee80e9e9cc0d17ca99ec3dc32296c704/src/01_check_data.py#L149-L173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mart["객단가"]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mart["분기당_매출_금액"]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 mart["분기당_매출_건수"].replace(0, pd.NA)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점포당 분기매출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mart["점포당_분기매출"]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mart["분기당_매출_금액"]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 mart["점포_수"].replace(0, pd.NA)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점포당 월매출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mart["점포당_월매출"]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mart["점포당_분기매출"] /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폐업비율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mart["폐업비율"]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mart["폐업_점포_수"]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 mart["점포_수"].replace(0, pd.NA)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*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2030 방문층 비중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총량이 비슷해도 연령 구성이 다른 상권을 구분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20대와 30대 인구를 합산하고 전체 인구로 나눠 백분율화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추천점수와 Random Forest 입력에 공통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유동인구는 원천 통계의 집계값이며 고유 방문자 수와 동일하다고 단정할 수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https://github.com/Min8309/data_seoul/blob/b7bc901aee80e9e9cc0d17ca99ec3dc32296c704/src/01_check_data.py#L241-L252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population["2030_유동인구_수"]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population["연령대_20_유동인구_수"]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population["연령대_30_유동인구_수"]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2030 비율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population["2030비율"]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population["2030_유동인구_수"]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/ population["총_유동인구_수"].replace(0, pd.NA)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*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334" name="Google Shape;3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백분위와 폐업 안정성 방향 반전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원·명·% 단위를 같은 상대점수로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rank(pct=True) × 100, 폐업비율만 100에서 차감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매출·인구·젊은층은 클수록, 폐업비율은 작을수록 유리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전체 분기·업종의 관측 행이 비교 모집단입니다. 동점은 기본 평균 순위를 사용합니다.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https://github.com/Min8309/data_seoul/blob/b7bc901aee80e9e9cc0d17ca99ec3dc32296c704/src/04_better_score.py#L23-L57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def percentile_score(series):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return series.rank(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pct=True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) *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매출 점수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높을수록 좋음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df["매출점수_v2"] = percentile_score(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df["점포당_월매출"]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유동인구 점수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높을수록 좋음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df["유동인구점수_v2"] = percentile_score(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df["총_유동인구_수"]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2030 점수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높을수록 좋음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df["2030점수_v2"] = percentile_score(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df["2030비율"]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폐업 안정 점수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낮은 폐업비율이 높은 점수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df["폐업안정점수_v2"]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- percentile_score(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df["폐업비율"]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356" name="Google Shape;35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창업추천점수 가중합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창업 목적에 맞춰 수익성과 수요·안정성을 결합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매출 40%, 인구 25%, 2030 20%, 안정성 15%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가중합 계산 후 점포 수 3개 이상 후보를 정렬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04의 저장 파일은 df입니다. 실제 서비스용 후보 필터·기간 집계는 다음 06에서 수행합니다.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https://github.com/Min8309/data_seoul/blob/b7bc901aee80e9e9cc0d17ca99ec3dc32296c704/src/04_better_score.py#L61-L80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df["창업추천점수_v2"]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df["매출점수_v2"] * 0.40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df["유동인구점수_v2"] * 0.25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df["2030점수_v2"] * 0.20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df["폐업안정점수_v2"] * 0.15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점포가 너무 적은 곳 제외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점포 3개 이상인 경우만 추천 후보로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recommend = df[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df["점포_수"] &gt;=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].copy()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추천 순위 만들기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ranking = recommend.sort_values(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"창업추천점수_v2",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ascending=False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378" name="Google Shape;3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서비스 후보 필터와 기간 평균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분기별 단기 변동을 상권·업종별 요약값으로 제공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점포 수 ≥ 3 필터 후 groupby와 mean으로 집계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창업 후보 20,933개 상권·업종 조합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최소 점포 기준을 통과한 분기만 평균에 들어갑니다. 관측 분기 수는 현재 집계에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https://github.com/Min8309/data_seoul/blob/b7bc901aee80e9e9cc0d17ca99ec3dc32296c704/src/06_final_startup_ranking.py#L21-L45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df = df[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df["점포_수"] &gt;=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].copy()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상권 + 업종 단위로 평균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startup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df.groupby(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"상권_코드",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"상권_코드_명",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"서비스_업종_코드",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"서비스_업종_코드_명"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as_index=False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.agg(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평균_점포_수=("점포_수", "mean"),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평균_점포당_월매출=("점포당_월매출", "mean"),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평균_총_유동인구=("총_유동인구_수", "mean"),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평균_2030비율=("2030비율", "mean"),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평균_폐업비율=("폐업비율", "mean"),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평균_창업추천점수=("창업추천점수_v2", "mean")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400" name="Google Shape;40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가구 업종의 추천 결과는 실제 화면과 연결된다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전체 업종 통합 순위와 구분해, 사용자가 선택한 업종 안에서 비교합니다.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영등포역(영등포): 87.63498671390612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신사역: 84.32865367581931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삼성중앙역: 84.05650280484204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논현역: 81.3982506643047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근거: startup_ranking.csv · 임대료·원가가 없어 추천점수는 수익성 보장이 아닙니다.</a:t>
            </a:r>
            <a:endParaRPr/>
          </a:p>
        </p:txBody>
      </p:sp>
      <p:sp>
        <p:nvSpPr>
          <p:cNvPr id="422" name="Google Shape;42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핫플의 분석 단위 중복 제거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동일 상권의 인구가 업종마다 반복되는 문제를 해결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업종 컬럼 없이 상권·분기·인구 지표만 선택하고 drop_duplicates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핫플 계산 대상 6,271개 상권·분기 관측값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상권 코드 하나만으로 중복 제거하지 않으므로 서로 다른 분기는 유지됩니다.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https://github.com/Min8309/data_seoul/blob/b7bc901aee80e9e9cc0d17ca99ec3dc32296c704/src/05_hotplace_score.py#L23-L36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hot = df[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"기준_년_코드",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"기준_분기_코드",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"상권_코드",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"상권_코드_명",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"총_유동인구_수",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"2030비율",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"시간대_17_21_유동인구_수",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"시간대_21_24_유동인구_수",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"토요일_유동인구_수",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"일요일_유동인구_수"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].drop_duplicates()</a:t>
            </a:r>
            <a:endParaRPr/>
          </a:p>
        </p:txBody>
      </p:sp>
      <p:sp>
        <p:nvSpPr>
          <p:cNvPr id="451" name="Google Shape;45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주말·야간 활동량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언제 붐비는지 방문 목적에 맞는 지표로 요약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토+일을 주말로, 17~21시+21~24시를 야간으로 정의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주말점수·야간점수의 원시 입력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코드에서 정의한 야간은 17~24시입니다. 비율이 아닌 인구 총량을 사용합니다.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https://github.com/Min8309/data_seoul/blob/b7bc901aee80e9e9cc0d17ca99ec3dc32296c704/src/05_hotplace_score.py#L43-L53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hot["주말_유동인구_수"]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hot["토요일_유동인구_수"]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hot["일요일_유동인구_수"]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야간 유동인구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hot["야간_유동인구_수"]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hot["시간대_17_21_유동인구_수"]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hot["시간대_21_24_유동인구_수"]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473" name="Google Shape;47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핫플점수와 최신 분기 추출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전체 활동성에 젊은층·주말·야간 특성을 반영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백분위 가중합 후 max 연도와 해당 연도의 max 분기 선택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서비스에서 2025 Q4 핫플 TOP20을 표시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백분위는 앞 단계에서 전체 분기로 계산됩니다. 최신 분기 안에서 다시 점수화하지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https://github.com/Min8309/data_seoul/blob/b7bc901aee80e9e9cc0d17ca99ec3dc32296c704/src/05_hotplace_score.py#L80-L99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hot["핫플점수"] =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hot["전체유동점수"] * 0.35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hot["2030핫플점수"] * 0.30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hot["주말점수"] * 0.20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+ hot["야간점수"] * 0.15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최신 분기만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latest_year = hot["기준_년_코드"].max()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latest_quarter = hot[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hot["기준_년_코드"] == latest_year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]["기준_분기_코드"].max()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latest = hot[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(hot["기준_년_코드"] == latest_year)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(hot["기준_분기_코드"] == latest_quarter)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].copy()</a:t>
            </a:r>
            <a:endParaRPr/>
          </a:p>
        </p:txBody>
      </p:sp>
      <p:sp>
        <p:nvSpPr>
          <p:cNvPr id="495" name="Google Shape;49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젊은층·주말·야간 활동성을 함께 반영한 순위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2025년 4분기 핫플 결과 · 실시간 혼잡도 순위와 구분합니다.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신촌역(신촌로터리): 99.6850582044331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홍대입구역(홍대): 99.13092010843566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신림역 5번(별빛거리): 98.89012916600224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신림역(신림): 98.88933184500078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근거: hotplace_score.csv · 상권 코드가 다른 인접 상권은 별도 후보입니다.</a:t>
            </a:r>
            <a:endParaRPr/>
          </a:p>
        </p:txBody>
      </p:sp>
      <p:sp>
        <p:nvSpPr>
          <p:cNvPr id="517" name="Google Shape;51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상권 좌표를 지도 위도·경도로 변환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국내 평면좌표를 웹 지도의 지리좌표로 맞춤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EPSG:5181 → EPSG:4326, always_xy=True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변환값을 경도·위도 컬럼에 저장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원천 좌표계 확인과 지도 표본 위치 대조는 별도의 검증 항목입니다.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https://github.com/Min8309/data_seoul/blob/b7bc901aee80e9e9cc0d17ca99ec3dc32296c704/src/07_add_location.py#L37-L51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transformer = Transformer.from_crs(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"EPSG:5181",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"EPSG:4326",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always_xy=True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X/Y → 경도/위도 변환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longitude, latitude = transformer.transform(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area["엑스좌표_값"].values,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area["와이좌표_값"].values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area["경도"] = longitude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area["위도"] = latitude</a:t>
            </a:r>
            <a:endParaRPr/>
          </a:p>
        </p:txBody>
      </p:sp>
      <p:sp>
        <p:nvSpPr>
          <p:cNvPr id="546" name="Google Shape;54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사용자 첨부 PPT 3쪽의 GIF 60프레임을 정적으로 발췌한 과거 화면입니다. 새 실행 결과가 아닙니다. src/07,08 및 app.py show_rank_map 참조. 사진 비율 유지 여부 확인 필요.</a:t>
            </a:r>
            <a:endParaRPr/>
          </a:p>
        </p:txBody>
      </p:sp>
      <p:sp>
        <p:nvSpPr>
          <p:cNvPr id="568" name="Google Shape;56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입력과 예측 대상을 명시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머신러닝이 어떤 정보로 무엇을 예측하는지 정의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수치형 4개 + 범주형 2개 → 점포당 월매출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추천 순위와 별도로 예상 월매출을 제공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출력은 상권·업종 평균 지표입니다. 개별 가게의 순이익을 예측하지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https://github.com/Min8309/data_seoul/blob/b7bc901aee80e9e9cc0d17ca99ec3dc32296c704/src/12_final_ai_model.py#L27-L39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numeric_features =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"총_유동인구_수",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"2030비율",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"점포_수",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"폐업비율"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categorical_features =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"서비스_업종_코드_명",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"상권_코드_명"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target = "점포당_월매출"</a:t>
            </a:r>
            <a:endParaRPr/>
          </a:p>
        </p:txBody>
      </p:sp>
      <p:sp>
        <p:nvSpPr>
          <p:cNvPr id="583" name="Google Shape;58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이후 분기를 분리하고 학습 이상치 처리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평가 분기를 학습과 이상치 기준 산출에서 분리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Q1~Q3 학습, Q4 평가. 학습셋의 99백분위 초과만 제거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평가셋에는 Q4 고매출 행까지 유지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Q4 입력은 같은 분기의 실측 지표입니다. 미리 알 수 없는 미래 입력까지 예측하는 코드는 아닙니다.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화면에서는 핵심 분리·임곗값 계산문만 발췌했습니다. 원본의 빈 데이터 검사·진단 출력은 발표 노트에 보관했습니다.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https://github.com/Min8309/data_seoul/blob/b7bc901aee80e9e9cc0d17ca99ec3dc32296c704/src/11_time_test_model.py#L69-L88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train_df = model_df[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model_df["기준_분기_코드"].isin([1,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].copy()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test_df = model_df[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model_df["기준_분기_코드"] ==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].copy()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print("\n학습 데이터 (1~3분기):")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print(train_df.shape)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print("\n테스트 데이터 (4분기):")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print(test_df.shape)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if train_df.empty or test_df.empty: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raise ValueError("2025년 1~3분기 학습 데이터와 4분기 평가 데이터가 모두 필요합니다.")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Keep the future quarter out of the training outlier threshold.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upper_limit = train_df[target].quantile(0.99)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train_df = train_df[train_df[target] &lt;= upper_limit].copy()</a:t>
            </a:r>
            <a:endParaRPr/>
          </a:p>
        </p:txBody>
      </p:sp>
      <p:sp>
        <p:nvSpPr>
          <p:cNvPr id="605" name="Google Shape;60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6" name="Google Shape;626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범주형 인코딩과 Random Forest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상권명·업종명을 모델이 처리할 수 있는 숫자로 변환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One-Hot 인코딩, 수치형 통과, 트리 200개·깊이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새 범주도 오류 없이 처리하는 전처리 구성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handle_unknown="ignore"는 미관측 범주를 충분히 학습했다는 뜻은 아닙니다.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https://github.com/Min8309/data_seoul/blob/b7bc901aee80e9e9cc0d17ca99ec3dc32296c704/src/11_time_test_model.py#L111-L132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preprocessor = ColumnTransformer(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transformers=[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"category",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OneHotEncoder(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handle_unknown="ignore"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categorical_features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remainder="passthrough"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RandomForest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model = RandomForestRegressor(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n_estimators=200,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max_depth=20,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min_samples_leaf=3,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random_state=42,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n_jobs=-1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627" name="Google Shape;627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8" name="Google Shape;648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전처리와 학습을 하나의 파이프라인으로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학습과 추론에 같은 전처리 순서를 적용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preprocessor → model을 Pipeline의 두 단계로 연결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fit 시 인코더와 모델을 함께 학습, predict 시 같은 변환 재사용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시간 검증 모델과 서비스 최종 모델은 서로 다른 학습 단계입니다.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https://github.com/Min8309/data_seoul/blob/b7bc901aee80e9e9cc0d17ca99ec3dc32296c704/src/11_time_test_model.py#L136-L147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pipeline = Pipeline(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steps=[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"preprocessor",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preprocessor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"model",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649" name="Google Shape;649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MAE·RMSE·R²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오차 크기와 설명력을 함께 평가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Q4 X_test 예측 후 실제 y_test와 세 지표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MAE: 평균 절대오차 / RMSE: 큰 오차에 민감 / R²: 설명력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저장 CSV의 R² 0.5227은 20,844행 기준입니다. 현재 전체 Q4 평가 성능으로 단정하지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https://github.com/Min8309/data_seoul/blob/b7bc901aee80e9e9cc0d17ca99ec3dc32296c704/src/11_time_test_model.py#L162-L181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pred = pipeline.predict(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X_test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성능 평가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mae = mean_absolute_error(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y_test,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rmse = mean_squared_error(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y_test,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 ** 0.5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r2 = r2_score(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y_test,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671" name="Google Shape;67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2" name="Google Shape;692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평가 수치는 표본과 실행 조건을 함께 공개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저장 예측 파일의 실제값·예측값을 재계산했습니다.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MAE / 1,470만원 / 평균 절대오차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정확값 14,704,847원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RMSE / 2,580만원 / 큰 오차에 민감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정확값 25,795,030원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R² / 0.5227 / 평가 표본 변동의 약 52.3%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정확도 52.27%를 뜻하지 않음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저장 결과 20,844행 ≠ 현재 Q4 21,063행. 현재 코드로 재평가한 성능은 아닙니다.</a:t>
            </a:r>
            <a:endParaRPr/>
          </a:p>
        </p:txBody>
      </p:sp>
      <p:sp>
        <p:nvSpPr>
          <p:cNvPr id="693" name="Google Shape;693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0" name="Google Shape;72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최종 학습 모델 저장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웹 요청마다 모델을 새로 학습하지 않도록 결과를 보관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최종 학습된 Pipeline을 joblib.dump로 저장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models/final_sales_model.pkl을 서비스에서 재사용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최종 모델은 전체 데이터 상위 1% 초과 제외 후 학습합니다. 저장 단계 자체는 성능 검증이 아닙니다.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https://github.com/Min8309/data_seoul/blob/b7bc901aee80e9e9cc0d17ca99ec3dc32296c704/src/12_final_ai_model.py#L118-L130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pipeline.fit(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X,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print("최종 AI 모델 학습 완료!")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모델 저장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joblib.dump(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pipeline,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BASE_DIR / 'models/final_sales_model.pkl'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721" name="Google Shape;72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2" name="Google Shape;742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Streamlit 데이터·모델 캐시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화면 재실행마다 CSV 읽기와 모델 로딩이 반복되는 부담 감소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cache_data로 데이터 반환값, cache_resource로 모델 인스턴스 재사용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사전 계산된 추천 CSV와 최종 pkl을 화면에 연결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파일 변경 시 캐시 무효화·앱 재시작 정책이 필요합니다. 캐시가 모델을 재학습하지는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https://github.com/Min8309/data_seoul/blob/b7bc901aee80e9e9cc0d17ca99ec3dc32296c704/src/app.py#L26-L36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@st.cache_data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 load_data():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return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pd.read_csv(BASE_DIR / "data/processed/startup_ranking_map.csv"),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pd.read_csv(BASE_DIR / "data/processed/hotplace_score_map.csv"),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@st.cache_resource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 load_model():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return joblib.load(BASE_DIR / "models/final_sales_model.pkl")</a:t>
            </a:r>
            <a:endParaRPr/>
          </a:p>
        </p:txBody>
      </p:sp>
      <p:sp>
        <p:nvSpPr>
          <p:cNvPr id="743" name="Google Shape;74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4" name="Google Shape;76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선택 업종의 TOP10 후보 추출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사용자 입력을 실제 추천 테이블 조건으로 연결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선택한 업종 필터 → 평균 추천점수 내림차순 → head(10)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업종별 후보 순위와 화면용 순위 컬럼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학습 모델이 순위를 생성하는 부분이 아닙니다. 미리 계산한 규칙 점수를 조회합니다.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https://github.com/Min8309/data_seoul/blob/b7bc901aee80e9e9cc0d17ca99ec3dc32296c704/src/app.py#L194-L214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result = startup[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startup["서비스_업종_코드_명"]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== selected_industry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].copy()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추천점수 기준 정렬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result = result.sort_values(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"평균_창업추천점수",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ascending=False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TOP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result = result.head(10)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result = result.reset_index(drop=True)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result["순위"] = result.index + 1</a:t>
            </a:r>
            <a:endParaRPr/>
          </a:p>
        </p:txBody>
      </p:sp>
      <p:sp>
        <p:nvSpPr>
          <p:cNvPr id="765" name="Google Shape;76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6" name="Google Shape;78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화면 입력을 모델 컬럼에 맞춰 예측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평균 집계 테이블과 학습 입력의 컬럼명을 일치시킴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평균_* 컬럼을 학습 컬럼으로 변경 후 predict(ai_input)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AI_예상_월매출 컬럼에 예측 결과 추가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평균값으로 예측한 결과는 분기별 예측값의 평균과 다를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https://github.com/Min8309/data_seoul/blob/b7bc901aee80e9e9cc0d17ca99ec3dc32296c704/src/app.py#L237-L250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ai_input = ai_input.rename(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columns={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"평균_총_유동인구": "총_유동인구_수",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"평균_2030비율": "2030비율",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"평균_점포_수": "점포_수",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"평균_폐업비율": "폐업비율"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# AI 예상 월매출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result["AI_예상_월매출"] = ai_model.predict(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ai_input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)</a:t>
            </a:r>
            <a:endParaRPr/>
          </a:p>
        </p:txBody>
      </p:sp>
      <p:sp>
        <p:nvSpPr>
          <p:cNvPr id="787" name="Google Shape;78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8" name="Google Shape;808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출처: 사용자 업로드 서울상권분석_발표자료_수정본.pptx 3쪽 정적 이미지. 실제 캡처의 값은 기존 실행 상태를 보여주므로 현재 저장모델 평가로 해석하지 않습니다.</a:t>
            </a:r>
            <a:endParaRPr/>
          </a:p>
        </p:txBody>
      </p:sp>
      <p:sp>
        <p:nvSpPr>
          <p:cNvPr id="809" name="Google Shape;809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4" name="Google Shape;82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사용자 질문을 키워드 조회로 처리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질문에서 목적을 판별해 해당 지표 순위를 조회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공백 제거 후 주말·유동·사람 키워드 검사, 주말 인구 상위 5개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저장된 최신 분기 데이터에서 질문에 맞는 상권 반환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UI에 AI라는 표현이 있지만 이 코드는 키워드 조건 분기입니다. 생성형 AI를 호출하지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빈 줄·설명 주석을 정리한 실제 코드 발췌입니다. 09는 줄바꿈도 정리했습니다. 필요한 앞 단계 변수와 import는 원본을 참조합니다.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원본: https://github.com/Min8309/data_seoul/blob/b7bc901aee80e9e9cc0d17ca99ec3dc32296c704/src/app.py#L538-L551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question = "".join(consumer_question.split())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# 1. 주말 유동인구 질문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if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"주말" in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("유동" in question or "사람" in question)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weekend_result = latest.sort_values(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"주말_유동인구_수",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ascending=False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).head(5)</a:t>
            </a:r>
            <a:endParaRPr/>
          </a:p>
        </p:txBody>
      </p:sp>
      <p:sp>
        <p:nvSpPr>
          <p:cNvPr id="825" name="Google Shape;825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" name="Google Shape;846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개발 역량을 보여주는 구현 근거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코드에서 확인되는 설계 판단을 기능과 연결했습니다.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CONTRACT / 정합성 검증 / 명시적 병합 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many_to_one 검증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분모 0·핵심 결측 처리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REUSE / 책임 분리 / 원본·가공·모델 경로 분리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공통 지도·차트 함수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전처리+모델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OPERATIONS / 실행 비용 관리 / 사전 계산 CSV 로딩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데이터·모델 캐시 구분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학습과 화면 추론 분리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개인 기여 비율·성능 개선율처럼 자료로 확인되지 않은 주장은 추가하지 않았습니다.</a:t>
            </a:r>
            <a:endParaRPr/>
          </a:p>
        </p:txBody>
      </p:sp>
      <p:sp>
        <p:nvSpPr>
          <p:cNvPr id="847" name="Google Shape;847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4" name="Google Shape;874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README와 tests에는 두 모드, 결측 좌표, 공백 질문, 동일값 점수, import 부작용, 평가 데이터 유지 등의 검증 범위가 정리되어 있습니다. 이번 PPT 작업에서는 테스트를 새로 실행하거나 재학습하지 않았습니다.</a:t>
            </a:r>
            <a:endParaRPr/>
          </a:p>
        </p:txBody>
      </p:sp>
      <p:sp>
        <p:nvSpPr>
          <p:cNvPr id="875" name="Google Shape;875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8" name="Google Shape;898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 고도화는 근거를 더 잘 남기는 것부터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구현 완료 항목과 향후 계획을 구분했습니다.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QUALITY / 출처·품질 로그 / 개별 URL·수집일·단위 기록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제외 사유·병합 일치율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관측 분기 수 공개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VALIDATION / 점수·모델 검증 / 가중치 민감도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업종별 기준모델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전체 Q4 재평가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 EXPANSION / 범위와 갱신 / 2024~2026 공통 범위 구성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임대료·시설 품질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정기 갱신과 롤링 검증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5" name="Google Shape;925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세 자료의 역할과 실제 근거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첨부자료의 내용은 참고 정보로 사용하고 프로젝트 코드와 대조했습니다.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발표자료 PPT / 내용과 서비스 화면 / 데이터 규모·분석 범위·처리 기준·평가와 한계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첨부된 스크린샷·GIF 발췌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코드 PDF / 23개 코드 해설 / 모든 코드 주제를 해당 분석 단계에 배치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파일·행 번호·원본 링크 유지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컬러 리뉴얼 PDF / 가독성과 구성 / 진한 제목·밝은 본문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블루 강조·충분한 여백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수치·차트로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소스 기준 b7bc901 · data/raw·processed CSV 실측 · q4_prediction_result.csv 재계산. 코드 전문과 추가 설명은 발표 노트에 수록했습니다.</a:t>
            </a:r>
            <a:endParaRPr/>
          </a:p>
        </p:txBody>
      </p:sp>
      <p:sp>
        <p:nvSpPr>
          <p:cNvPr id="926" name="Google Shape;926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18" name="Google Shape;1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en"/>
              <a:buNone/>
              <a:defRPr b="1" sz="4000" cap="none">
                <a:latin typeface="Sen"/>
                <a:ea typeface="Sen"/>
                <a:cs typeface="Sen"/>
                <a:sym typeface="S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30" name="Google Shape;30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Sen"/>
                <a:ea typeface="Sen"/>
                <a:cs typeface="Sen"/>
                <a:sym typeface="Sen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Sen"/>
                <a:ea typeface="Sen"/>
                <a:cs typeface="Sen"/>
                <a:sym typeface="Sen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Sen"/>
                <a:ea typeface="Sen"/>
                <a:cs typeface="Sen"/>
                <a:sym typeface="Sen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Sen"/>
                <a:ea typeface="Sen"/>
                <a:cs typeface="Sen"/>
                <a:sym typeface="Se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36" name="Google Shape;36;p4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Sen"/>
                <a:ea typeface="Sen"/>
                <a:cs typeface="Sen"/>
                <a:sym typeface="Sen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Sen"/>
                <a:ea typeface="Sen"/>
                <a:cs typeface="Sen"/>
                <a:sym typeface="Sen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Sen"/>
                <a:ea typeface="Sen"/>
                <a:cs typeface="Sen"/>
                <a:sym typeface="Sen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Sen"/>
                <a:ea typeface="Sen"/>
                <a:cs typeface="Sen"/>
                <a:sym typeface="Sen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Sen"/>
                <a:ea typeface="Sen"/>
                <a:cs typeface="Sen"/>
                <a:sym typeface="Se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37" name="Google Shape;3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en"/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Sen"/>
                <a:ea typeface="Sen"/>
                <a:cs typeface="Sen"/>
                <a:sym typeface="Sen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Sen"/>
                <a:ea typeface="Sen"/>
                <a:cs typeface="Sen"/>
                <a:sym typeface="Sen"/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Sen"/>
                <a:ea typeface="Sen"/>
                <a:cs typeface="Sen"/>
                <a:sym typeface="Sen"/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43" name="Google Shape;43;p4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Sen"/>
                <a:ea typeface="Sen"/>
                <a:cs typeface="Sen"/>
                <a:sym typeface="Sen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Sen"/>
                <a:ea typeface="Sen"/>
                <a:cs typeface="Sen"/>
                <a:sym typeface="Sen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Sen"/>
                <a:ea typeface="Sen"/>
                <a:cs typeface="Sen"/>
                <a:sym typeface="Sen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Sen"/>
                <a:ea typeface="Sen"/>
                <a:cs typeface="Sen"/>
                <a:sym typeface="Sen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44" name="Google Shape;44;p4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Sen"/>
                <a:ea typeface="Sen"/>
                <a:cs typeface="Sen"/>
                <a:sym typeface="Sen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Sen"/>
                <a:ea typeface="Sen"/>
                <a:cs typeface="Sen"/>
                <a:sym typeface="Sen"/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Sen"/>
                <a:ea typeface="Sen"/>
                <a:cs typeface="Sen"/>
                <a:sym typeface="Sen"/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45" name="Google Shape;45;p4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Sen"/>
                <a:ea typeface="Sen"/>
                <a:cs typeface="Sen"/>
                <a:sym typeface="Sen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Sen"/>
                <a:ea typeface="Sen"/>
                <a:cs typeface="Sen"/>
                <a:sym typeface="Sen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Sen"/>
                <a:ea typeface="Sen"/>
                <a:cs typeface="Sen"/>
                <a:sym typeface="Sen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Sen"/>
                <a:ea typeface="Sen"/>
                <a:cs typeface="Sen"/>
                <a:sym typeface="Sen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Sen"/>
                <a:ea typeface="Sen"/>
                <a:cs typeface="Sen"/>
                <a:sym typeface="Sen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46" name="Google Shape;46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None/>
              <a:defRPr b="1" sz="2000">
                <a:latin typeface="Sen"/>
                <a:ea typeface="Sen"/>
                <a:cs typeface="Sen"/>
                <a:sym typeface="S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Sen"/>
                <a:ea typeface="Sen"/>
                <a:cs typeface="Sen"/>
                <a:sym typeface="Sen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Sen"/>
                <a:ea typeface="Sen"/>
                <a:cs typeface="Sen"/>
                <a:sym typeface="Sen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Sen"/>
                <a:ea typeface="Sen"/>
                <a:cs typeface="Sen"/>
                <a:sym typeface="Sen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Sen"/>
                <a:ea typeface="Sen"/>
                <a:cs typeface="Sen"/>
                <a:sym typeface="Sen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Sen"/>
                <a:ea typeface="Sen"/>
                <a:cs typeface="Sen"/>
                <a:sym typeface="Sen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Sen"/>
                <a:ea typeface="Sen"/>
                <a:cs typeface="Sen"/>
                <a:sym typeface="Sen"/>
              </a:defRPr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Sen"/>
                <a:ea typeface="Sen"/>
                <a:cs typeface="Sen"/>
                <a:sym typeface="Sen"/>
              </a:defRPr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Sen"/>
                <a:ea typeface="Sen"/>
                <a:cs typeface="Sen"/>
                <a:sym typeface="Sen"/>
              </a:defRPr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57" name="Google Shape;57;p4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Sen"/>
                <a:ea typeface="Sen"/>
                <a:cs typeface="Sen"/>
                <a:sym typeface="Sen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Sen"/>
                <a:ea typeface="Sen"/>
                <a:cs typeface="Sen"/>
                <a:sym typeface="Sen"/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Sen"/>
                <a:ea typeface="Sen"/>
                <a:cs typeface="Sen"/>
                <a:sym typeface="Sen"/>
              </a:defRPr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None/>
              <a:defRPr b="1" sz="2000">
                <a:latin typeface="Sen"/>
                <a:ea typeface="Sen"/>
                <a:cs typeface="Sen"/>
                <a:sym typeface="S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Sen"/>
                <a:ea typeface="Sen"/>
                <a:cs typeface="Sen"/>
                <a:sym typeface="Sen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Sen"/>
                <a:ea typeface="Sen"/>
                <a:cs typeface="Sen"/>
                <a:sym typeface="Sen"/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latin typeface="Sen"/>
                <a:ea typeface="Sen"/>
                <a:cs typeface="Sen"/>
                <a:sym typeface="Sen"/>
              </a:defRPr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65" name="Google Shape;65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1pPr>
            <a:lvl2pPr indent="0" lvl="1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2pPr>
            <a:lvl3pPr indent="0" lvl="2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3pPr>
            <a:lvl4pPr indent="0" lvl="3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4pPr>
            <a:lvl5pPr indent="0" lvl="4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5pPr>
            <a:lvl6pPr indent="0" lvl="5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6pPr>
            <a:lvl7pPr indent="0" lvl="6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7pPr>
            <a:lvl8pPr indent="0" lvl="7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8pPr>
            <a:lvl9pPr indent="0" lvl="8" marL="0" algn="r">
              <a:spcBef>
                <a:spcPts val="0"/>
              </a:spcBef>
              <a:buNone/>
              <a:defRPr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en"/>
              <a:buNone/>
              <a:defRPr b="0" i="0" sz="44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en"/>
              <a:buChar char="•"/>
              <a:defRPr b="0" i="0" sz="32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en"/>
              <a:buChar char="–"/>
              <a:defRPr b="0" i="0" sz="2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n"/>
              <a:buChar char="•"/>
              <a:defRPr b="0" i="0" sz="24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Char char="–"/>
              <a:defRPr b="0" i="0" sz="20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Char char="»"/>
              <a:defRPr b="0" i="0" sz="20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Char char="•"/>
              <a:defRPr b="0" i="0" sz="20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Char char="•"/>
              <a:defRPr b="0" i="0" sz="20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Char char="•"/>
              <a:defRPr b="0" i="0" sz="20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en"/>
              <a:buChar char="•"/>
              <a:defRPr b="0" i="0" sz="20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9" name="Google Shape;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Sen"/>
                <a:ea typeface="Sen"/>
                <a:cs typeface="Sen"/>
                <a:sym typeface="Sen"/>
              </a:defRPr>
            </a:lvl9pPr>
          </a:lstStyle>
          <a:p/>
        </p:txBody>
      </p:sp>
      <p:sp>
        <p:nvSpPr>
          <p:cNvPr id="10" name="Google Shape;1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Sen"/>
                <a:ea typeface="Sen"/>
                <a:cs typeface="Sen"/>
                <a:sym typeface="Se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Min8309/data_seoul/blob/b7bc901aee80e9e9cc0d17ca99ec3dc32296c704/src/01_check_data.py#L12-L2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Min8309/data_seoul/blob/b7bc901aee80e9e9cc0d17ca99ec3dc32296c704/src/01_check_data.py#L123-L134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in8309/data_seoul/blob/b7bc901aee80e9e9cc0d17ca99ec3dc32296c704/src/01_check_data.py#L302-L312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Min8309/data_seoul/blob/b7bc901aee80e9e9cc0d17ca99ec3dc32296c704/src/02_clean_data.py#L38-L44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in8309/data_seoul/blob/b7bc901aee80e9e9cc0d17ca99ec3dc32296c704/src/01_check_data.py#L149-L173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Min8309/data_seoul/blob/b7bc901aee80e9e9cc0d17ca99ec3dc32296c704/src/01_check_data.py#L241-L25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Min8309/data_seoul/blob/b7bc901aee80e9e9cc0d17ca99ec3dc32296c704/src/04_better_score.py#L23-L57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Min8309/data_seoul/blob/b7bc901aee80e9e9cc0d17ca99ec3dc32296c704/src/04_better_score.py#L61-L8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Min8309/data_seoul/blob/b7bc901aee80e9e9cc0d17ca99ec3dc32296c704/src/06_final_startup_ranking.py#L21-L45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Min8309/data_seoul/blob/b7bc901aee80e9e9cc0d17ca99ec3dc32296c704/src/05_hotplace_score.py#L23-L36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Min8309/data_seoul/blob/b7bc901aee80e9e9cc0d17ca99ec3dc32296c704/src/05_hotplace_score.py#L43-L53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Min8309/data_seoul/blob/b7bc901aee80e9e9cc0d17ca99ec3dc32296c704/src/05_hotplace_score.py#L80-L99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Min8309/data_seoul/blob/b7bc901aee80e9e9cc0d17ca99ec3dc32296c704/src/07_add_location.py#L37-L51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Min8309/data_seoul/blob/b7bc901aee80e9e9cc0d17ca99ec3dc32296c704/src/12_final_ai_model.py#L27-L39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Min8309/data_seoul/blob/b7bc901aee80e9e9cc0d17ca99ec3dc32296c704/src/11_time_test_model.py#L69-L88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Min8309/data_seoul/blob/b7bc901aee80e9e9cc0d17ca99ec3dc32296c704/src/11_time_test_model.py#L111-L132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Min8309/data_seoul/blob/b7bc901aee80e9e9cc0d17ca99ec3dc32296c704/src/11_time_test_model.py#L136-L147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Min8309/data_seoul/blob/b7bc901aee80e9e9cc0d17ca99ec3dc32296c704/src/11_time_test_model.py#L162-L181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Min8309/data_seoul/blob/b7bc901aee80e9e9cc0d17ca99ec3dc32296c704/src/12_final_ai_model.py#L118-L130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Min8309/data_seoul/blob/b7bc901aee80e9e9cc0d17ca99ec3dc32296c704/src/app.py#L26-L36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Min8309/data_seoul/blob/b7bc901aee80e9e9cc0d17ca99ec3dc32296c704/src/app.py#L194-L214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Min8309/data_seoul/blob/b7bc901aee80e9e9cc0d17ca99ec3dc32296c704/src/app.py#L237-L250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ithub.com/Min8309/data_seoul/blob/b7bc901aee80e9e9cc0d17ca99ec3dc32296c704/src/app.py#L538-L551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62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en"/>
                <a:ea typeface="Sen"/>
                <a:cs typeface="Sen"/>
                <a:sym typeface="Sen"/>
              </a:rPr>
              <a:t>서울, 어디서 놀고 어디서 벌까?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3D1DF"/>
                </a:solidFill>
                <a:latin typeface="Sen"/>
                <a:ea typeface="Sen"/>
                <a:cs typeface="Sen"/>
                <a:sym typeface="Sen"/>
              </a:rPr>
              <a:t>공공데이터를 방문·창업 의사결정 서비스로 연결하다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2435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Sen"/>
                <a:ea typeface="Sen"/>
                <a:cs typeface="Sen"/>
                <a:sym typeface="Sen"/>
              </a:rPr>
              <a:t>01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31520" y="2880360"/>
            <a:ext cx="12801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Sen"/>
                <a:ea typeface="Sen"/>
                <a:cs typeface="Sen"/>
                <a:sym typeface="Sen"/>
              </a:rPr>
              <a:t>분석 근거와 실제 구현을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36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Sen"/>
                <a:ea typeface="Sen"/>
                <a:cs typeface="Sen"/>
                <a:sym typeface="Sen"/>
              </a:rPr>
              <a:t>하나의 흐름으로 설명합니다.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31520" y="565099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Sen"/>
                <a:ea typeface="Sen"/>
                <a:cs typeface="Sen"/>
                <a:sym typeface="Sen"/>
              </a:rPr>
              <a:t>84,675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31520" y="65196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3D1DF"/>
                </a:solidFill>
                <a:latin typeface="Sen"/>
                <a:ea typeface="Sen"/>
                <a:cs typeface="Sen"/>
                <a:sym typeface="Sen"/>
              </a:rPr>
              <a:t>분석 관측값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4251960" y="565099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Sen"/>
                <a:ea typeface="Sen"/>
                <a:cs typeface="Sen"/>
                <a:sym typeface="Sen"/>
              </a:rPr>
              <a:t>1,577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251960" y="65196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3D1DF"/>
                </a:solidFill>
                <a:latin typeface="Sen"/>
                <a:ea typeface="Sen"/>
                <a:cs typeface="Sen"/>
                <a:sym typeface="Sen"/>
              </a:rPr>
              <a:t>서울 상권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772400" y="565099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Sen"/>
                <a:ea typeface="Sen"/>
                <a:cs typeface="Sen"/>
                <a:sym typeface="Sen"/>
              </a:rPr>
              <a:t>62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772400" y="65196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3D1DF"/>
                </a:solidFill>
                <a:latin typeface="Sen"/>
                <a:ea typeface="Sen"/>
                <a:cs typeface="Sen"/>
                <a:sym typeface="Sen"/>
              </a:rPr>
              <a:t>생활밀착업종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1292840" y="565099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8BDF8"/>
                </a:solidFill>
                <a:latin typeface="Sen"/>
                <a:ea typeface="Sen"/>
                <a:cs typeface="Sen"/>
                <a:sym typeface="Sen"/>
              </a:rPr>
              <a:t>23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1292840" y="65196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3D1DF"/>
                </a:solidFill>
                <a:latin typeface="Sen"/>
                <a:ea typeface="Sen"/>
                <a:cs typeface="Sen"/>
                <a:sym typeface="Sen"/>
              </a:rPr>
              <a:t>핵심 코드 발췌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01 PROJECT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목적이 달라지면 같은 상권의 해석도 달라진다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방문 목적과 창업 목적에 맞는 지표를 분리했습니다.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48640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48640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777240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CONSUMER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77240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어디서 놀까?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777240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2030 비중과 주말·야간 활동량을 함께 비교합니다.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5145024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145024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373624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BUSINESS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5373624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어디서 벌까?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5373624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업종별 매출과 수요·폐업점포 비율을 함께 봅니다.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9741408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9741408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9970008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ENGINEERING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970008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어떻게 연결할까?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9970008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공통 데이터마트 위에 추천 규칙·매출 추정·웹 화면을 구성합니다.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40080" y="6675120"/>
            <a:ext cx="1316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추천 점수는 규칙 기반 상대평가, 머신러닝 출력은 예상 월매출입니다.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01 ARCHITECTURE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원천 데이터에서 화면까지 이어지는 구현 구조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데이터 처리·추천 계산·모델 학습·서비스 실행의 책임을 나눴습니다.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548640" y="2788920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777240" y="30632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RAW DATA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777240" y="379476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 · 점포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유동인구 · 영역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3675887" y="352044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→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4023359" y="2788920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4251959" y="30632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A63"/>
                </a:solidFill>
                <a:latin typeface="Sen"/>
                <a:ea typeface="Sen"/>
                <a:cs typeface="Sen"/>
                <a:sym typeface="Sen"/>
              </a:rPr>
              <a:t>DATA MART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4251959" y="379476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키 정합성 · 결측 처리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공통 파생변수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7150607" y="352044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→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7498079" y="2788920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7726679" y="30632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65F00"/>
                </a:solidFill>
                <a:latin typeface="Sen"/>
                <a:ea typeface="Sen"/>
                <a:cs typeface="Sen"/>
                <a:sym typeface="Sen"/>
              </a:rPr>
              <a:t>RULE / MODEL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7726679" y="379476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백분위 추천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Random Forest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0625328" y="352044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→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10972799" y="2788920"/>
            <a:ext cx="31089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11201399" y="30632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STREAMLIT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11201399" y="379476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업종별 TOP10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핫플 TOP20 · 지도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731520" y="5733288"/>
            <a:ext cx="13167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전처리·학습은 오프라인 스크립트에서 실행하고,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서비스는 저장된 CSV와 모델을 읽어 화면과 추론을 제공합니다.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DATA SOURCES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무엇을 수집했고, 무엇을 실제로 사용했나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출처: 서울 열린데이터광장 · 서울시 상권분석서비스 / 기존 발표 제공기관 표기: 서울신용보증재단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48640" y="2697480"/>
            <a:ext cx="13533120" cy="594360"/>
          </a:xfrm>
          <a:prstGeom prst="rect">
            <a:avLst/>
          </a:prstGeom>
          <a:solidFill>
            <a:srgbClr val="1324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777240" y="2807208"/>
            <a:ext cx="2651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en"/>
                <a:ea typeface="Sen"/>
                <a:cs typeface="Sen"/>
                <a:sym typeface="Sen"/>
              </a:rPr>
              <a:t>원천 데이터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3657600" y="2807208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en"/>
                <a:ea typeface="Sen"/>
                <a:cs typeface="Sen"/>
                <a:sym typeface="Sen"/>
              </a:rPr>
              <a:t>원본 행 × 열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6675120" y="2807208"/>
            <a:ext cx="3291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en"/>
                <a:ea typeface="Sen"/>
                <a:cs typeface="Sen"/>
                <a:sym typeface="Sen"/>
              </a:rPr>
              <a:t>보관 범위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10241280" y="2807208"/>
            <a:ext cx="3474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en"/>
                <a:ea typeface="Sen"/>
                <a:cs typeface="Sen"/>
                <a:sym typeface="Sen"/>
              </a:rPr>
              <a:t>현재 사용 목적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48640" y="3355848"/>
            <a:ext cx="13533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777240" y="3465576"/>
            <a:ext cx="2651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추정매출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3657600" y="3465576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85,732 × 55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6675120" y="3465576"/>
            <a:ext cx="3291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2025 Q1–Q4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0241280" y="3465576"/>
            <a:ext cx="3474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매출·객단가·모델 타깃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48640" y="4014216"/>
            <a:ext cx="13533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777240" y="4123944"/>
            <a:ext cx="2651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점포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3657600" y="4123944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304,775 × 14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6675120" y="4123944"/>
            <a:ext cx="3291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2025 Q1–Q4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10241280" y="4123944"/>
            <a:ext cx="3474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점포 수·폐업점포 비율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548640" y="4672584"/>
            <a:ext cx="13533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777240" y="4782312"/>
            <a:ext cx="2651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유동인구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3657600" y="4782312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36,281 × 27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6675120" y="4782312"/>
            <a:ext cx="3291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2021 Q1–2026 Q2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10241280" y="4782312"/>
            <a:ext cx="3474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분석에는 2025년 결합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548640" y="5330952"/>
            <a:ext cx="13533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777240" y="5440680"/>
            <a:ext cx="26517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상권영역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3657600" y="5440680"/>
            <a:ext cx="27432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1,650 × 11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6675120" y="5440680"/>
            <a:ext cx="3291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시점 컬럼 없음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10241280" y="5440680"/>
            <a:ext cx="34747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좌표·자치구·행정동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731520" y="6400800"/>
            <a:ext cx="1316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CSV 보관과 읽기 코드는 확인했습니다. 실제 수집일·개별 다운로드 URL·API 수집 여부는 미확인입니다.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76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data.seoul.go.kr  /  golmok.seoul.go.kr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DATA SCOPE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보관 데이터의 범위와 분석 결과의 시점을 구분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파일이 있다고 모두 추천·예측에 반영한 것은 아닙니다.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05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48640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777240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ACTIVE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777240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2025년 분석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777240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정제 데이터 84,675행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Q1 21,170 / Q2 21,186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Q3 21,256 / Q4 21,063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145024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145024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5373624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ARCHIVE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5373624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2024년 자료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5373624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매출 87,179행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점포 306,889행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현재 처리 코드에는 미반영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9741408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9741408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9970008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NOT USED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9970008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집객시설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9970008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34,716행 × 25열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결측 셀 563,750개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현재 모델·추천 입력 제외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640080" y="6675120"/>
            <a:ext cx="1316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2026년 원본이 일부 있어도 현재 서비스의 최신 핫플 결과는 2025 Q4 기준입니다.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DATA INGESTION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CSV 읽기와 기준 시점 분리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서로 다른 파일을 같은 시점으로 연결하기 위한 준비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06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01_check_data.py  ·  L12–L21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sales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pd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read_csv(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BASE_DIR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'data/raw/sales_2025.csv'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encoding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"cp949"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sales[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sales[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//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10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sales[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sales[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%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10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D088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cp949로 읽고, 연분기 코드를 정수 나눗셈과 나머지로 분리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20251 → 연도 2025, 분기 1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파일 인코딩과 시점을 먼저 표준화해 이후 결합 기준을 일관되게 유지했습니다.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01 / 23  ·  원본 코드 열기  ·  01_check_data.py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DATA INTEGRATION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매출과 점포를 동일한 키로 병합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상권명이 같아도 업종·분기가 다르면 다른 관측값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07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01_check_data.py  ·  L123–L134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mart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pd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merge(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sales,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store,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on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"상권_코드"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"서비스_업종_코드"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],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how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"left"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validate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"many_to_one"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연도·분기·상권 코드·업종 코드로 left merge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매출의 행을 유지한 채 점포 정보를 연결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코드 기반 키와 many_to_one 검증으로 이름 중복·우측 키 중복에 따른 행 증가를 방지합니다.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02 / 23  ·  원본 코드 열기  ·  01_check_data.py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DATA INTEGRATION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인구를 상권·분기에 맞춰 연결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인구에는 업종 키가 없으므로 병합 단위를 달리 적용</a:t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08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01_check_data.py  ·  L302–L312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final_mart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pd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merge(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mart,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population_merge,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on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"상권_코드"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],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how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"left"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validate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"many_to_one"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연도·분기·상권 코드로 연결하고 우측 키 유일성 검증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업종별 매출 행에 같은 상권의 인구 정보가 반복됨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인구에는 업종 키가 없다는 데이터 구조를 반영했습니다. 업종 행에 반복된 인구는 다시 합산하지 않습니다.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05 / 23  ·  원본 코드 열기  ·  01_check_data.py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DATA QUALITY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분석에 필요한 핵심 결측만 제외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의미 있는 비교에 필요한 최소 입력을 확보</a:t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09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02_clean_data.py  ·  L38–L44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clean_df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df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dropna(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subset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"점포당_월매출"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"총_유동인구_수"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"2030비율"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월매출·총 유동인구·2030비율 중 하나라도 없으면 제외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85,732행 → 84,675행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핵심 결측 1,057행 제외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307" name="Google Shape;307;p9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임의의 0 채움 대신 분석 필수 컬럼을 기준으로 제외했습니다. 정제 결과 전체 결측·행 중복은 0입니다.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06 / 23  ·  원본 코드 열기  ·  02_clean_data.py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FEATURE ENGINEERING</a:t>
            </a:r>
            <a:endParaRPr/>
          </a:p>
        </p:txBody>
      </p:sp>
      <p:sp>
        <p:nvSpPr>
          <p:cNvPr id="316" name="Google Shape;316;p10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매출과 폐업점포 비율 만들기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단순 총매출을 점포 규모와 거래 건수로 보정</a:t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10</a:t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01_check_data.py  ·  L149–L173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"객단가"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"분기당_매출_금액"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"분기당_매출_건수"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replace(</a:t>
            </a:r>
            <a:r>
              <a:rPr b="0" i="0" lang="en-US" sz="1655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pd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NA)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"점포당_분기매출"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"분기당_매출_금액"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"점포_수"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replace(</a:t>
            </a:r>
            <a:r>
              <a:rPr b="0" i="0" lang="en-US" sz="1655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pd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NA)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"점포당_월매출"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"점포당_분기매출"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655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3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"폐업비율"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"폐업_점포_수"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mart[</a:t>
            </a:r>
            <a:r>
              <a:rPr b="0" i="0" lang="en-US" sz="1655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"점포_수"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replace(</a:t>
            </a:r>
            <a:r>
              <a:rPr b="0" i="0" lang="en-US" sz="1655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pd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NA)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655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655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100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5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55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분모 0을 NA로 바꾼 뒤 객단가·월매출·폐업비율 계산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상권·업종별 비교와 모델 타깃에 쓰는 파생변수</a:t>
            </a:r>
            <a:endParaRPr/>
          </a:p>
        </p:txBody>
      </p:sp>
      <p:sp>
        <p:nvSpPr>
          <p:cNvPr id="328" name="Google Shape;328;p10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분모 0을 NA로 바꿔 잘못된 비율 생성을 막습니다. 분기÷3 해석은 원천 메타데이터 대조가 필요합니다.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03 / 23  ·  원본 코드 열기  ·  01_check_data.py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FEATURE ENGINEERING</a:t>
            </a:r>
            <a:endParaRPr/>
          </a:p>
        </p:txBody>
      </p:sp>
      <p:sp>
        <p:nvSpPr>
          <p:cNvPr id="338" name="Google Shape;338;p11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2030 방문층 비중 계산</a:t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총량이 비슷해도 연령 구성이 다른 상권을 구분</a:t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11</a:t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01_check_data.py  ·  L241–L252</a:t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population[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population[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"연령대_20_유동인구_수"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population[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"연령대_30_유동인구_수"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population[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"2030비율"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population[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population[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"총_유동인구_수"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replace(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pd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NA)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100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347" name="Google Shape;347;p11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20대와 30대 인구를 합산하고 전체 인구로 나눠 백분율화</a:t>
            </a:r>
            <a:endParaRPr/>
          </a:p>
        </p:txBody>
      </p:sp>
      <p:sp>
        <p:nvSpPr>
          <p:cNvPr id="348" name="Google Shape;348;p11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349" name="Google Shape;349;p11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추천점수와 Random Forest 입력에 공통 사용</a:t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351" name="Google Shape;351;p11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사람이 많은 곳과 젊은층 비중이 높은 곳을 분리했습니다. 같은 파생변수를 추천과 모델에 재사용합니다.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04 / 23  ·  원본 코드 열기  ·  01_check_data.py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SCORING</a:t>
            </a:r>
            <a:endParaRPr/>
          </a:p>
        </p:txBody>
      </p:sp>
      <p:sp>
        <p:nvSpPr>
          <p:cNvPr id="360" name="Google Shape;360;p12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백분위와 폐업 안정성 방향 반전</a:t>
            </a:r>
            <a:endParaRPr/>
          </a:p>
        </p:txBody>
      </p:sp>
      <p:sp>
        <p:nvSpPr>
          <p:cNvPr id="361" name="Google Shape;361;p12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원·명·% 단위를 같은 상대점수로 비교</a:t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364" name="Google Shape;364;p12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12</a:t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04_better_score.py  ·  L23–L57</a:t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def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percentile_score(series):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394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return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series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rank(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pct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True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)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394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100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"매출점수_v2"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percentile_score(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"점포당_월매출"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"유동인구점수_v2"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percentile_score(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"총_유동인구_수"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"2030점수_v2"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percentile_score(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"2030비율"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"폐업안정점수_v2"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394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100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-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percentile_score(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df[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"폐업비율"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94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369" name="Google Shape;369;p12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rank(pct=True) × 100, 폐업비율만 100에서 차감</a:t>
            </a:r>
            <a:endParaRPr/>
          </a:p>
        </p:txBody>
      </p:sp>
      <p:sp>
        <p:nvSpPr>
          <p:cNvPr id="370" name="Google Shape;370;p12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371" name="Google Shape;371;p12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매출·인구·젊은층은 클수록, 폐업비율은 작을수록 유리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서로 다른 단위와 좋고 나쁜 방향을 통일합니다. 점수의 비교 범위는 전체 분기·업종 관측 행입니다.</a:t>
            </a:r>
            <a:endParaRPr/>
          </a:p>
        </p:txBody>
      </p:sp>
      <p:sp>
        <p:nvSpPr>
          <p:cNvPr id="374" name="Google Shape;374;p12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07 / 23  ·  원본 코드 열기  ·  04_better_score.py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STARTUP RECOMMENDATION</a:t>
            </a:r>
            <a:endParaRPr/>
          </a:p>
        </p:txBody>
      </p:sp>
      <p:sp>
        <p:nvSpPr>
          <p:cNvPr id="382" name="Google Shape;382;p13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창업추천점수 가중합</a:t>
            </a:r>
            <a:endParaRPr/>
          </a:p>
        </p:txBody>
      </p:sp>
      <p:sp>
        <p:nvSpPr>
          <p:cNvPr id="383" name="Google Shape;383;p13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창업 목적에 맞춰 수익성과 수요·안정성을 결합</a:t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386" name="Google Shape;386;p13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13</a:t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04_better_score.py  ·  L61–L80</a:t>
            </a:r>
            <a:endParaRPr/>
          </a:p>
        </p:txBody>
      </p:sp>
      <p:sp>
        <p:nvSpPr>
          <p:cNvPr id="389" name="Google Shape;389;p13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"창업추천점수_v2"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"매출점수_v2"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0.40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"유동인구점수_v2"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0.25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"2030점수_v2"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0.20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"폐업안정점수_v2"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0.15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recommend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df[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&gt;=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3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ranking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recommend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sort_values(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"창업추천점수_v2"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ascending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False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391" name="Google Shape;391;p13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 40%, 인구 25%, 2030 20%, 안정성 15%</a:t>
            </a:r>
            <a:endParaRPr/>
          </a:p>
        </p:txBody>
      </p:sp>
      <p:sp>
        <p:nvSpPr>
          <p:cNvPr id="392" name="Google Shape;392;p13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393" name="Google Shape;393;p13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매출 40% · 유동 25%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2030 20% · 안정성 15%</a:t>
            </a:r>
            <a:endParaRPr/>
          </a:p>
        </p:txBody>
      </p:sp>
      <p:sp>
        <p:nvSpPr>
          <p:cNvPr id="394" name="Google Shape;394;p13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395" name="Google Shape;395;p13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추천 규칙을 모델 추론과 분리했습니다. 04의 저장값은 전체 df이며, 최종 서비스 필터는 06에서 다시 적용합니다.</a:t>
            </a:r>
            <a:endParaRPr/>
          </a:p>
        </p:txBody>
      </p:sp>
      <p:sp>
        <p:nvSpPr>
          <p:cNvPr id="396" name="Google Shape;396;p13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08 / 23  ·  원본 코드 열기  ·  04_better_score.py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STARTUP AGGREGATION</a:t>
            </a:r>
            <a:endParaRPr/>
          </a:p>
        </p:txBody>
      </p:sp>
      <p:sp>
        <p:nvSpPr>
          <p:cNvPr id="404" name="Google Shape;404;p14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서비스 후보 필터와 기간 평균</a:t>
            </a:r>
            <a:endParaRPr/>
          </a:p>
        </p:txBody>
      </p:sp>
      <p:sp>
        <p:nvSpPr>
          <p:cNvPr id="405" name="Google Shape;405;p14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분기별 단기 변동을 상권·업종별 요약값으로 제공</a:t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07" name="Google Shape;407;p14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408" name="Google Shape;408;p14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14</a:t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10" name="Google Shape;410;p14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06_final_startup_ranking.py  ·  L21–L45</a:t>
            </a:r>
            <a:endParaRPr/>
          </a:p>
        </p:txBody>
      </p:sp>
      <p:sp>
        <p:nvSpPr>
          <p:cNvPr id="411" name="Google Shape;411;p14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df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df[df[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"점포_수"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&gt;=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766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3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startup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df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groupby(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"상권_코드"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"상권_코드_명"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"서비스_업종_코드"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"서비스_업종_코드_명"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as_index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False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)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agg(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평균_점포_수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(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"점포_수"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"mean"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평균_점포당_월매출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(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"점포당_월매출"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"mean"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평균_총_유동인구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(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"총_유동인구_수"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"mean"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평균_2030비율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(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"2030비율"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"mean"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평균_폐업비율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(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"폐업비율"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"mean"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평균_창업추천점수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(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"창업추천점수_v2"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"mean"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66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12" name="Google Shape;412;p14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413" name="Google Shape;413;p14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점포 수 ≥ 3 필터 후 groupby와 mean으로 집계</a:t>
            </a:r>
            <a:endParaRPr/>
          </a:p>
        </p:txBody>
      </p:sp>
      <p:sp>
        <p:nvSpPr>
          <p:cNvPr id="414" name="Google Shape;414;p14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415" name="Google Shape;415;p14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서비스 후보 20,933개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상권·업종별 기간 평균</a:t>
            </a:r>
            <a:endParaRPr/>
          </a:p>
        </p:txBody>
      </p:sp>
      <p:sp>
        <p:nvSpPr>
          <p:cNvPr id="416" name="Google Shape;416;p14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417" name="Google Shape;417;p14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점포 수 ≥ 3을 통과한 분기만 평균에 포함합니다. 표본 조건을 적용하되 관측 분기 수 공개는 개선 과제입니다.</a:t>
            </a:r>
            <a:endParaRPr/>
          </a:p>
        </p:txBody>
      </p:sp>
      <p:sp>
        <p:nvSpPr>
          <p:cNvPr id="418" name="Google Shape;418;p14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09 / 23  ·  원본 코드 열기  ·  06_final_startup_ranking.py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5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STARTUP RESULTS</a:t>
            </a:r>
            <a:endParaRPr/>
          </a:p>
        </p:txBody>
      </p:sp>
      <p:sp>
        <p:nvSpPr>
          <p:cNvPr id="426" name="Google Shape;426;p15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가구 업종의 추천 결과는 실제 화면과 연결된다</a:t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전체 업종 통합 순위와 구분해, 사용자가 선택한 업종 안에서 비교합니다.</a:t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430" name="Google Shape;430;p15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15</a:t>
            </a:r>
            <a:endParaRPr/>
          </a:p>
        </p:txBody>
      </p:sp>
      <p:sp>
        <p:nvSpPr>
          <p:cNvPr id="431" name="Google Shape;431;p15"/>
          <p:cNvSpPr txBox="1"/>
          <p:nvPr/>
        </p:nvSpPr>
        <p:spPr>
          <a:xfrm>
            <a:off x="685800" y="2743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영등포역(영등포)</a:t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4709160" y="2779776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4709160" y="2779776"/>
            <a:ext cx="6410674" cy="43891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12390120" y="2688336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87.63점</a:t>
            </a:r>
            <a:endParaRPr/>
          </a:p>
        </p:txBody>
      </p:sp>
      <p:sp>
        <p:nvSpPr>
          <p:cNvPr id="435" name="Google Shape;435;p15"/>
          <p:cNvSpPr txBox="1"/>
          <p:nvPr/>
        </p:nvSpPr>
        <p:spPr>
          <a:xfrm>
            <a:off x="685800" y="376732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신사역</a:t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4709160" y="3803904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4709160" y="3803904"/>
            <a:ext cx="6168809" cy="43891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38" name="Google Shape;438;p15"/>
          <p:cNvSpPr txBox="1"/>
          <p:nvPr/>
        </p:nvSpPr>
        <p:spPr>
          <a:xfrm>
            <a:off x="12390120" y="3712464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84.33점</a:t>
            </a:r>
            <a:endParaRPr/>
          </a:p>
        </p:txBody>
      </p:sp>
      <p:sp>
        <p:nvSpPr>
          <p:cNvPr id="439" name="Google Shape;439;p15"/>
          <p:cNvSpPr txBox="1"/>
          <p:nvPr/>
        </p:nvSpPr>
        <p:spPr>
          <a:xfrm>
            <a:off x="685800" y="479145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삼성중앙역</a:t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4709160" y="4828032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709160" y="4828032"/>
            <a:ext cx="6148901" cy="43891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42" name="Google Shape;442;p15"/>
          <p:cNvSpPr txBox="1"/>
          <p:nvPr/>
        </p:nvSpPr>
        <p:spPr>
          <a:xfrm>
            <a:off x="12390120" y="473659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84.06점</a:t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685800" y="5815584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논현역</a:t>
            </a: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4709160" y="5852160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4709160" y="5852160"/>
            <a:ext cx="5954444" cy="43891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12390120" y="57607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81.40점</a:t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685800" y="7068312"/>
            <a:ext cx="1325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근거: startup_ranking.csv · 임대료·원가가 없어 추천점수는 수익성 보장이 아닙니다.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HOTPLACE UNIT</a:t>
            </a:r>
            <a:endParaRPr/>
          </a:p>
        </p:txBody>
      </p:sp>
      <p:sp>
        <p:nvSpPr>
          <p:cNvPr id="455" name="Google Shape;455;p16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핫플의 분석 단위 중복 제거</a:t>
            </a:r>
            <a:endParaRPr/>
          </a:p>
        </p:txBody>
      </p:sp>
      <p:sp>
        <p:nvSpPr>
          <p:cNvPr id="456" name="Google Shape;456;p16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동일 상권의 인구가 업종마다 반복되는 문제를 해결</a:t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58" name="Google Shape;458;p16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459" name="Google Shape;459;p16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16</a:t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05_hotplace_score.py  ·  L23–L36</a:t>
            </a:r>
            <a:endParaRPr/>
          </a:p>
        </p:txBody>
      </p:sp>
      <p:sp>
        <p:nvSpPr>
          <p:cNvPr id="462" name="Google Shape;462;p16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hot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df[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"상권_코드"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"상권_코드_명"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"총_유동인구_수"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"2030비율"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"시간대_17_21_유동인구_수"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"시간대_21_24_유동인구_수"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"토요일_유동인구_수"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"일요일_유동인구_수"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drop_duplicates()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63" name="Google Shape;463;p16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464" name="Google Shape;464;p16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업종 컬럼 없이 상권·분기·인구 지표만 선택하고 drop_duplicates</a:t>
            </a:r>
            <a:endParaRPr/>
          </a:p>
        </p:txBody>
      </p:sp>
      <p:sp>
        <p:nvSpPr>
          <p:cNvPr id="465" name="Google Shape;465;p16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핫플 계산 대상 6,271개 상권·분기 관측값</a:t>
            </a:r>
            <a:endParaRPr/>
          </a:p>
        </p:txBody>
      </p:sp>
      <p:sp>
        <p:nvSpPr>
          <p:cNvPr id="467" name="Google Shape;467;p16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468" name="Google Shape;468;p16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업종 행마다 반복된 인구를 제거합니다. 상권·분기별 관측값을 유지해 핫플 총량 중복을 줄였습니다.</a:t>
            </a:r>
            <a:endParaRPr/>
          </a:p>
        </p:txBody>
      </p:sp>
      <p:sp>
        <p:nvSpPr>
          <p:cNvPr id="469" name="Google Shape;469;p16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10 / 23  ·  원본 코드 열기  ·  05_hotplace_score.py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HOTPLACE FEATURES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주말·야간 활동량 계산</a:t>
            </a:r>
            <a:endParaRPr/>
          </a:p>
        </p:txBody>
      </p:sp>
      <p:sp>
        <p:nvSpPr>
          <p:cNvPr id="478" name="Google Shape;478;p17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언제 붐비는지 방문 목적에 맞는 지표로 요약</a:t>
            </a:r>
            <a:endParaRPr/>
          </a:p>
        </p:txBody>
      </p:sp>
      <p:sp>
        <p:nvSpPr>
          <p:cNvPr id="479" name="Google Shape;479;p17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80" name="Google Shape;480;p17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481" name="Google Shape;481;p17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17</a:t>
            </a:r>
            <a:endParaRPr/>
          </a:p>
        </p:txBody>
      </p:sp>
      <p:sp>
        <p:nvSpPr>
          <p:cNvPr id="482" name="Google Shape;482;p17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83" name="Google Shape;483;p17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05_hotplace_score.py  ·  L43–L53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hot[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"주말_유동인구_수"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hot[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"토요일_유동인구_수"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"일요일_유동인구_수"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hot[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"야간_유동인구_수"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hot[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"시간대_17_21_유동인구_수"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"시간대_21_24_유동인구_수"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85" name="Google Shape;485;p17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토+일을 주말로, 17~21시+21~24시를 야간으로 정의</a:t>
            </a:r>
            <a:endParaRPr/>
          </a:p>
        </p:txBody>
      </p:sp>
      <p:sp>
        <p:nvSpPr>
          <p:cNvPr id="487" name="Google Shape;487;p17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488" name="Google Shape;488;p17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주말 = 토 + 일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야간 = 17~24시</a:t>
            </a:r>
            <a:endParaRPr/>
          </a:p>
        </p:txBody>
      </p:sp>
      <p:sp>
        <p:nvSpPr>
          <p:cNvPr id="489" name="Google Shape;489;p17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시간대의 정의를 코드로 명확히 했습니다. 현재 지표는 비중이 아닌 인구 총량이므로 해석에 주의합니다.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11 / 23  ·  원본 코드 열기  ·  05_hotplace_score.py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98" name="Google Shape;498;p18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HOTPLACE SCORING</a:t>
            </a:r>
            <a:endParaRPr/>
          </a:p>
        </p:txBody>
      </p:sp>
      <p:sp>
        <p:nvSpPr>
          <p:cNvPr id="499" name="Google Shape;499;p18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핫플점수와 최신 분기 추출</a:t>
            </a:r>
            <a:endParaRPr/>
          </a:p>
        </p:txBody>
      </p:sp>
      <p:sp>
        <p:nvSpPr>
          <p:cNvPr id="500" name="Google Shape;500;p18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전체 활동성에 젊은층·주말·야간 특성을 반영</a:t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02" name="Google Shape;502;p18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503" name="Google Shape;503;p18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18</a:t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05" name="Google Shape;505;p18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05_hotplace_score.py  ·  L80–L99</a:t>
            </a:r>
            <a:endParaRPr/>
          </a:p>
        </p:txBody>
      </p:sp>
      <p:sp>
        <p:nvSpPr>
          <p:cNvPr id="506" name="Google Shape;506;p18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"핫플점수"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"전체유동점수"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766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0.35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"2030핫플점수"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766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0.30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"주말점수"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766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0.20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"야간점수"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766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0.15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latest_year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"기준_년_코드"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max()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latest_quarter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"기준_년_코드"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latest_year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max()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latest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hot[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(hot[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"기준_년_코드"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latest_year)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&amp;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(hot[</a:t>
            </a:r>
            <a:r>
              <a:rPr b="0" i="0" lang="en-US" sz="1766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latest_quarter)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66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508" name="Google Shape;508;p18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백분위 가중합 후 max 연도와 해당 연도의 max 분기 선택</a:t>
            </a:r>
            <a:endParaRPr/>
          </a:p>
        </p:txBody>
      </p:sp>
      <p:sp>
        <p:nvSpPr>
          <p:cNvPr id="509" name="Google Shape;509;p18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510" name="Google Shape;510;p18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유동 35% · 2030 30%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주말 20% · 야간 15%</a:t>
            </a:r>
            <a:endParaRPr/>
          </a:p>
        </p:txBody>
      </p:sp>
      <p:sp>
        <p:nvSpPr>
          <p:cNvPr id="511" name="Google Shape;511;p18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512" name="Google Shape;512;p18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백분위를 만든 뒤 최신 분기만 선택합니다. 총량·주말·야간의 상관성에 따른 영향 중첩은 검증 과제입니다.</a:t>
            </a:r>
            <a:endParaRPr/>
          </a:p>
        </p:txBody>
      </p:sp>
      <p:sp>
        <p:nvSpPr>
          <p:cNvPr id="513" name="Google Shape;513;p18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12 / 23  ·  원본 코드 열기  ·  05_hotplace_score.py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9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HOTPLACE RESULTS</a:t>
            </a:r>
            <a:endParaRPr/>
          </a:p>
        </p:txBody>
      </p:sp>
      <p:sp>
        <p:nvSpPr>
          <p:cNvPr id="521" name="Google Shape;521;p19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젊은층·주말·야간 활동성을 함께 반영한 순위</a:t>
            </a:r>
            <a:endParaRPr/>
          </a:p>
        </p:txBody>
      </p:sp>
      <p:sp>
        <p:nvSpPr>
          <p:cNvPr id="522" name="Google Shape;522;p19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2025년 4분기 핫플 결과 · 실시간 혼잡도 순위와 구분합니다.</a:t>
            </a: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24" name="Google Shape;524;p19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525" name="Google Shape;525;p19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19</a:t>
            </a:r>
            <a:endParaRPr/>
          </a:p>
        </p:txBody>
      </p:sp>
      <p:sp>
        <p:nvSpPr>
          <p:cNvPr id="526" name="Google Shape;526;p19"/>
          <p:cNvSpPr txBox="1"/>
          <p:nvPr/>
        </p:nvSpPr>
        <p:spPr>
          <a:xfrm>
            <a:off x="685800" y="2743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신촌역(신촌로터리)</a:t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4709160" y="2779776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4709160" y="2779776"/>
            <a:ext cx="7292161" cy="438912"/>
          </a:xfrm>
          <a:prstGeom prst="rect">
            <a:avLst/>
          </a:prstGeom>
          <a:solidFill>
            <a:srgbClr val="007A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29" name="Google Shape;529;p19"/>
          <p:cNvSpPr txBox="1"/>
          <p:nvPr/>
        </p:nvSpPr>
        <p:spPr>
          <a:xfrm>
            <a:off x="12390120" y="2688336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A63"/>
                </a:solidFill>
                <a:latin typeface="Sen"/>
                <a:ea typeface="Sen"/>
                <a:cs typeface="Sen"/>
                <a:sym typeface="Sen"/>
              </a:rPr>
              <a:t>99.69점</a:t>
            </a:r>
            <a:endParaRPr/>
          </a:p>
        </p:txBody>
      </p:sp>
      <p:sp>
        <p:nvSpPr>
          <p:cNvPr id="530" name="Google Shape;530;p19"/>
          <p:cNvSpPr txBox="1"/>
          <p:nvPr/>
        </p:nvSpPr>
        <p:spPr>
          <a:xfrm>
            <a:off x="685800" y="376732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홍대입구역(홍대)</a:t>
            </a:r>
            <a:endParaRPr/>
          </a:p>
        </p:txBody>
      </p:sp>
      <p:sp>
        <p:nvSpPr>
          <p:cNvPr id="531" name="Google Shape;531;p19"/>
          <p:cNvSpPr/>
          <p:nvPr/>
        </p:nvSpPr>
        <p:spPr>
          <a:xfrm>
            <a:off x="4709160" y="3803904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4709160" y="3803904"/>
            <a:ext cx="7251625" cy="438912"/>
          </a:xfrm>
          <a:prstGeom prst="rect">
            <a:avLst/>
          </a:prstGeom>
          <a:solidFill>
            <a:srgbClr val="007A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33" name="Google Shape;533;p19"/>
          <p:cNvSpPr txBox="1"/>
          <p:nvPr/>
        </p:nvSpPr>
        <p:spPr>
          <a:xfrm>
            <a:off x="12390120" y="3712464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A63"/>
                </a:solidFill>
                <a:latin typeface="Sen"/>
                <a:ea typeface="Sen"/>
                <a:cs typeface="Sen"/>
                <a:sym typeface="Sen"/>
              </a:rPr>
              <a:t>99.13점</a:t>
            </a:r>
            <a:endParaRPr/>
          </a:p>
        </p:txBody>
      </p:sp>
      <p:sp>
        <p:nvSpPr>
          <p:cNvPr id="534" name="Google Shape;534;p19"/>
          <p:cNvSpPr txBox="1"/>
          <p:nvPr/>
        </p:nvSpPr>
        <p:spPr>
          <a:xfrm>
            <a:off x="685800" y="479145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신림역 5번(별빛거리)</a:t>
            </a:r>
            <a:endParaRPr/>
          </a:p>
        </p:txBody>
      </p:sp>
      <p:sp>
        <p:nvSpPr>
          <p:cNvPr id="535" name="Google Shape;535;p19"/>
          <p:cNvSpPr/>
          <p:nvPr/>
        </p:nvSpPr>
        <p:spPr>
          <a:xfrm>
            <a:off x="4709160" y="4828032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4709160" y="4828032"/>
            <a:ext cx="7234010" cy="438912"/>
          </a:xfrm>
          <a:prstGeom prst="rect">
            <a:avLst/>
          </a:prstGeom>
          <a:solidFill>
            <a:srgbClr val="007A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37" name="Google Shape;537;p19"/>
          <p:cNvSpPr txBox="1"/>
          <p:nvPr/>
        </p:nvSpPr>
        <p:spPr>
          <a:xfrm>
            <a:off x="12390120" y="473659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A63"/>
                </a:solidFill>
                <a:latin typeface="Sen"/>
                <a:ea typeface="Sen"/>
                <a:cs typeface="Sen"/>
                <a:sym typeface="Sen"/>
              </a:rPr>
              <a:t>98.89점</a:t>
            </a:r>
            <a:endParaRPr/>
          </a:p>
        </p:txBody>
      </p:sp>
      <p:sp>
        <p:nvSpPr>
          <p:cNvPr id="538" name="Google Shape;538;p19"/>
          <p:cNvSpPr txBox="1"/>
          <p:nvPr/>
        </p:nvSpPr>
        <p:spPr>
          <a:xfrm>
            <a:off x="685800" y="5815584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신림역(신림)</a:t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4709160" y="5852160"/>
            <a:ext cx="7315200" cy="438912"/>
          </a:xfrm>
          <a:prstGeom prst="rect">
            <a:avLst/>
          </a:prstGeom>
          <a:solidFill>
            <a:srgbClr val="E1E9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4709160" y="5852160"/>
            <a:ext cx="7233952" cy="438912"/>
          </a:xfrm>
          <a:prstGeom prst="rect">
            <a:avLst/>
          </a:prstGeom>
          <a:solidFill>
            <a:srgbClr val="007A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41" name="Google Shape;541;p19"/>
          <p:cNvSpPr txBox="1"/>
          <p:nvPr/>
        </p:nvSpPr>
        <p:spPr>
          <a:xfrm>
            <a:off x="12390120" y="57607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A63"/>
                </a:solidFill>
                <a:latin typeface="Sen"/>
                <a:ea typeface="Sen"/>
                <a:cs typeface="Sen"/>
                <a:sym typeface="Sen"/>
              </a:rPr>
              <a:t>98.89점</a:t>
            </a: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685800" y="7068312"/>
            <a:ext cx="1325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근거: hotplace_score.csv · 상권 코드가 다른 인접 상권은 별도 후보입니다.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0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49" name="Google Shape;549;p20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SPATIAL DATA</a:t>
            </a:r>
            <a:endParaRPr/>
          </a:p>
        </p:txBody>
      </p:sp>
      <p:sp>
        <p:nvSpPr>
          <p:cNvPr id="550" name="Google Shape;550;p20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상권 좌표를 지도 위도·경도로 변환</a:t>
            </a:r>
            <a:endParaRPr/>
          </a:p>
        </p:txBody>
      </p:sp>
      <p:sp>
        <p:nvSpPr>
          <p:cNvPr id="551" name="Google Shape;551;p20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국내 평면좌표를 웹 지도의 지리좌표로 맞춤</a:t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53" name="Google Shape;553;p20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554" name="Google Shape;554;p20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20</a:t>
            </a: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07_add_location.py  ·  L37–L51</a:t>
            </a:r>
            <a:endParaRPr/>
          </a:p>
        </p:txBody>
      </p:sp>
      <p:sp>
        <p:nvSpPr>
          <p:cNvPr id="557" name="Google Shape;557;p20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transformer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Transformer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from_crs(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"EPSG:5181"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"EPSG:4326"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always_xy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True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longitude, latitude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transformer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transform(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area[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"엑스좌표_값"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values,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area[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"와이좌표_값"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values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area[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"경도"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longitude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area[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"위도"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latitude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58" name="Google Shape;558;p20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559" name="Google Shape;559;p20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EPSG:5181 → EPSG:4326, always_xy=True</a:t>
            </a:r>
            <a:endParaRPr/>
          </a:p>
        </p:txBody>
      </p:sp>
      <p:sp>
        <p:nvSpPr>
          <p:cNvPr id="560" name="Google Shape;560;p20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561" name="Google Shape;561;p20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변환값을 경도·위도 컬럼에 저장</a:t>
            </a:r>
            <a:endParaRPr/>
          </a:p>
        </p:txBody>
      </p:sp>
      <p:sp>
        <p:nvSpPr>
          <p:cNvPr id="562" name="Google Shape;562;p20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563" name="Google Shape;563;p20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좌표체계를 바꾼 뒤 상권 코드로 위치를 연결합니다. 지도용 저장 테이블의 좌표 결측은 0건입니다.</a:t>
            </a:r>
            <a:endParaRPr/>
          </a:p>
        </p:txBody>
      </p:sp>
      <p:sp>
        <p:nvSpPr>
          <p:cNvPr id="564" name="Google Shape;564;p20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13 / 23  ·  원본 코드 열기  ·  07_add_location.py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1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71" name="Google Shape;571;p21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MAP EXPERIENCE</a:t>
            </a:r>
            <a:endParaRPr/>
          </a:p>
        </p:txBody>
      </p:sp>
      <p:sp>
        <p:nvSpPr>
          <p:cNvPr id="572" name="Google Shape;572;p21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분석 순위를 지도에서 비교할 수 있도록 구현</a:t>
            </a:r>
            <a:endParaRPr/>
          </a:p>
        </p:txBody>
      </p:sp>
      <p:sp>
        <p:nvSpPr>
          <p:cNvPr id="573" name="Google Shape;573;p21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추천 결과에 위도·경도를 결합하고, 순위에 따라 마커 크기와 색상을 달리합니다.</a:t>
            </a:r>
            <a:endParaRPr/>
          </a:p>
        </p:txBody>
      </p:sp>
      <p:sp>
        <p:nvSpPr>
          <p:cNvPr id="574" name="Google Shape;574;p21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75" name="Google Shape;575;p21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576" name="Google Shape;576;p21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21</a:t>
            </a:r>
            <a:endParaRPr/>
          </a:p>
        </p:txBody>
      </p:sp>
      <p:pic>
        <p:nvPicPr>
          <p:cNvPr descr="service_map.png" id="577" name="Google Shape;5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606040"/>
            <a:ext cx="8138160" cy="51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1"/>
          <p:cNvSpPr txBox="1"/>
          <p:nvPr/>
        </p:nvSpPr>
        <p:spPr>
          <a:xfrm>
            <a:off x="9601200" y="278892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코드로 확인되는 설계</a:t>
            </a:r>
            <a:endParaRPr/>
          </a:p>
        </p:txBody>
      </p:sp>
      <p:sp>
        <p:nvSpPr>
          <p:cNvPr id="579" name="Google Shape;579;p21"/>
          <p:cNvSpPr txBox="1"/>
          <p:nvPr/>
        </p:nvSpPr>
        <p:spPr>
          <a:xfrm>
            <a:off x="9601200" y="3520440"/>
            <a:ext cx="42519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상권 코드별 위치 중복 제거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3243A"/>
              </a:solidFill>
              <a:latin typeface="Sen"/>
              <a:ea typeface="Sen"/>
              <a:cs typeface="Sen"/>
              <a:sym typeface="Se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결측 좌표를 지도에서 제외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3243A"/>
              </a:solidFill>
              <a:latin typeface="Sen"/>
              <a:ea typeface="Sen"/>
              <a:cs typeface="Sen"/>
              <a:sym typeface="Se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공통 지도 함수로 두 모드 재사용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3243A"/>
              </a:solidFill>
              <a:latin typeface="Sen"/>
              <a:ea typeface="Sen"/>
              <a:cs typeface="Sen"/>
              <a:sym typeface="Se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순위별 마커·툴팁 제공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 MODEL INPUT</a:t>
            </a:r>
            <a:endParaRPr/>
          </a:p>
        </p:txBody>
      </p:sp>
      <p:sp>
        <p:nvSpPr>
          <p:cNvPr id="587" name="Google Shape;587;p22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모델 입력과 예측 대상을 명시</a:t>
            </a:r>
            <a:endParaRPr/>
          </a:p>
        </p:txBody>
      </p:sp>
      <p:sp>
        <p:nvSpPr>
          <p:cNvPr id="588" name="Google Shape;588;p22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머신러닝이 어떤 정보로 무엇을 예측하는지 정의</a:t>
            </a:r>
            <a:endParaRPr/>
          </a:p>
        </p:txBody>
      </p:sp>
      <p:sp>
        <p:nvSpPr>
          <p:cNvPr id="589" name="Google Shape;589;p22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90" name="Google Shape;590;p22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591" name="Google Shape;591;p22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22</a:t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93" name="Google Shape;593;p22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12_final_ai_model.py  ·  L27–L39</a:t>
            </a:r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numeric_features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"총_유동인구_수"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"2030비율"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"폐업비율"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categorical_features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"서비스_업종_코드_명"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"상권_코드_명"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target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"점포당_월매출"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B7E5AC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595" name="Google Shape;595;p22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수치형 4개 + 범주형 2개 → 점포당 월매출</a:t>
            </a:r>
            <a:endParaRPr/>
          </a:p>
        </p:txBody>
      </p:sp>
      <p:sp>
        <p:nvSpPr>
          <p:cNvPr id="597" name="Google Shape;597;p22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598" name="Google Shape;598;p22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추천 순위와 별도로 예상 월매출을 제공</a:t>
            </a: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600" name="Google Shape;600;p22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입력과 타깃을 명시해 추천 규칙과 모델의 역할을 구분합니다. 월매출 평균 추정이며 개별 점포 이익 예측은 아닙니다.</a:t>
            </a:r>
            <a:endParaRPr/>
          </a:p>
        </p:txBody>
      </p:sp>
      <p:sp>
        <p:nvSpPr>
          <p:cNvPr id="601" name="Google Shape;601;p22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14 / 23  ·  원본 코드 열기  ·  12_final_ai_model.py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3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 TIME VALIDATION</a:t>
            </a:r>
            <a:endParaRPr/>
          </a:p>
        </p:txBody>
      </p:sp>
      <p:sp>
        <p:nvSpPr>
          <p:cNvPr id="609" name="Google Shape;609;p23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이후 분기를 분리하고 학습 이상치 처리</a:t>
            </a:r>
            <a:endParaRPr/>
          </a:p>
        </p:txBody>
      </p:sp>
      <p:sp>
        <p:nvSpPr>
          <p:cNvPr id="610" name="Google Shape;610;p23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평가 분기를 학습과 이상치 기준 산출에서 분리</a:t>
            </a:r>
            <a:endParaRPr/>
          </a:p>
        </p:txBody>
      </p:sp>
      <p:sp>
        <p:nvSpPr>
          <p:cNvPr id="611" name="Google Shape;611;p23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613" name="Google Shape;613;p23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23</a:t>
            </a: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15" name="Google Shape;615;p23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11_time_test_model.py  ·  L69–L88</a:t>
            </a:r>
            <a:endParaRPr/>
          </a:p>
        </p:txBody>
      </p:sp>
      <p:sp>
        <p:nvSpPr>
          <p:cNvPr id="616" name="Google Shape;616;p23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train_df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model_df[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model_df[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isin([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2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3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test_df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model_df[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model_df[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"기준_분기_코드"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4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upper_limit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train_df[target]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quantile(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0.99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train_df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train_df[train_df[target]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&lt;=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upper_limit]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17" name="Google Shape;617;p23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618" name="Google Shape;618;p23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Q1~Q3 학습, Q4 평가. 학습셋의 99백분위 초과만 제거</a:t>
            </a:r>
            <a:endParaRPr/>
          </a:p>
        </p:txBody>
      </p:sp>
      <p:sp>
        <p:nvSpPr>
          <p:cNvPr id="619" name="Google Shape;619;p23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620" name="Google Shape;620;p23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Q1~Q3 학습 후보 63,612행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Q4 평가 후보 21,063행</a:t>
            </a:r>
            <a:endParaRPr/>
          </a:p>
        </p:txBody>
      </p:sp>
      <p:sp>
        <p:nvSpPr>
          <p:cNvPr id="621" name="Google Shape;621;p23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622" name="Google Shape;622;p23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이상치 기준은 학습셋에서만 계산합니다. 미래 평가 분기의 고매출 행은 제거하지 않습니다.</a:t>
            </a:r>
            <a:endParaRPr/>
          </a:p>
        </p:txBody>
      </p:sp>
      <p:sp>
        <p:nvSpPr>
          <p:cNvPr id="623" name="Google Shape;623;p23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15 / 23  ·  원본 코드 열기  ·  11_time_test_model.py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30" name="Google Shape;630;p24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 MODEL PIPELINE</a:t>
            </a:r>
            <a:endParaRPr/>
          </a:p>
        </p:txBody>
      </p:sp>
      <p:sp>
        <p:nvSpPr>
          <p:cNvPr id="631" name="Google Shape;631;p24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범주형 인코딩과 Random Forest</a:t>
            </a:r>
            <a:endParaRPr/>
          </a:p>
        </p:txBody>
      </p:sp>
      <p:sp>
        <p:nvSpPr>
          <p:cNvPr id="632" name="Google Shape;632;p24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상권명·업종명을 모델이 처리할 수 있는 숫자로 변환</a:t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34" name="Google Shape;634;p24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635" name="Google Shape;635;p24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24</a:t>
            </a: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37" name="Google Shape;637;p24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11_time_test_model.py  ·  L111–L132</a:t>
            </a:r>
            <a:endParaRPr/>
          </a:p>
        </p:txBody>
      </p:sp>
      <p:sp>
        <p:nvSpPr>
          <p:cNvPr id="638" name="Google Shape;638;p24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preprocessor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ColumnTransformer(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transformers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[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"category"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OneHotEncoder(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    handle_unknown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"ignore"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),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categorical_features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],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remainder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"passthrough"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model 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RandomForestRegressor(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n_estimators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200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max_depth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20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min_samples_leaf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3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random_state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394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42</a:t>
            </a: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n_jobs</a:t>
            </a:r>
            <a:r>
              <a:rPr b="0" i="0" lang="en-US" sz="1394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=-</a:t>
            </a:r>
            <a:r>
              <a:rPr b="0" i="0" lang="en-US" sz="1394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4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94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39" name="Google Shape;639;p24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640" name="Google Shape;640;p24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One-Hot 인코딩, 수치형 통과, 트리 200개·깊이 20</a:t>
            </a:r>
            <a:endParaRPr/>
          </a:p>
        </p:txBody>
      </p:sp>
      <p:sp>
        <p:nvSpPr>
          <p:cNvPr id="641" name="Google Shape;641;p24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642" name="Google Shape;642;p24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새 범주도 오류 없이 처리하는 전처리 구성</a:t>
            </a:r>
            <a:endParaRPr/>
          </a:p>
        </p:txBody>
      </p:sp>
      <p:sp>
        <p:nvSpPr>
          <p:cNvPr id="643" name="Google Shape;643;p24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644" name="Google Shape;644;p24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미관측 범주는 ignore로 처리해 추론 오류를 줄입니다. 다만 새로운 상권의 예측 신뢰성이 보장되지는 않습니다.</a:t>
            </a:r>
            <a:endParaRPr/>
          </a:p>
        </p:txBody>
      </p:sp>
      <p:sp>
        <p:nvSpPr>
          <p:cNvPr id="645" name="Google Shape;645;p24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16 / 23  ·  원본 코드 열기  ·  11_time_test_model.py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5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52" name="Google Shape;652;p25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 MODEL PIPELINE</a:t>
            </a:r>
            <a:endParaRPr/>
          </a:p>
        </p:txBody>
      </p:sp>
      <p:sp>
        <p:nvSpPr>
          <p:cNvPr id="653" name="Google Shape;653;p25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전처리와 학습을 하나의 파이프라인으로</a:t>
            </a:r>
            <a:endParaRPr/>
          </a:p>
        </p:txBody>
      </p:sp>
      <p:sp>
        <p:nvSpPr>
          <p:cNvPr id="654" name="Google Shape;654;p25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학습과 추론에 같은 전처리 순서를 적용</a:t>
            </a:r>
            <a:endParaRPr/>
          </a:p>
        </p:txBody>
      </p:sp>
      <p:sp>
        <p:nvSpPr>
          <p:cNvPr id="655" name="Google Shape;655;p25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56" name="Google Shape;656;p25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657" name="Google Shape;657;p25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25</a:t>
            </a:r>
            <a:endParaRPr/>
          </a:p>
        </p:txBody>
      </p:sp>
      <p:sp>
        <p:nvSpPr>
          <p:cNvPr id="658" name="Google Shape;658;p25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59" name="Google Shape;659;p25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11_time_test_model.py  ·  L136–L147</a:t>
            </a:r>
            <a:endParaRPr/>
          </a:p>
        </p:txBody>
      </p:sp>
      <p:sp>
        <p:nvSpPr>
          <p:cNvPr id="660" name="Google Shape;660;p25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pipeline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Pipeline(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steps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"preprocessor"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preprocessor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),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"model"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    model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61" name="Google Shape;661;p25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662" name="Google Shape;662;p25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preprocessor → model을 Pipeline의 두 단계로 연결</a:t>
            </a:r>
            <a:endParaRPr/>
          </a:p>
        </p:txBody>
      </p:sp>
      <p:sp>
        <p:nvSpPr>
          <p:cNvPr id="663" name="Google Shape;663;p25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664" name="Google Shape;664;p25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fit 시 인코더와 모델을 함께 학습, predict 시 같은 변환 재사용</a:t>
            </a:r>
            <a:endParaRPr/>
          </a:p>
        </p:txBody>
      </p:sp>
      <p:sp>
        <p:nvSpPr>
          <p:cNvPr id="665" name="Google Shape;665;p25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666" name="Google Shape;666;p25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인코더와 모델을 하나로 저장해 학습·서비스의 변환 순서를 일치시킵니다. 입력 컬럼 계약을 유지하는 구조입니다.</a:t>
            </a:r>
            <a:endParaRPr/>
          </a:p>
        </p:txBody>
      </p:sp>
      <p:sp>
        <p:nvSpPr>
          <p:cNvPr id="667" name="Google Shape;667;p25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17 / 23  ·  원본 코드 열기  ·  11_time_test_model.py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6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74" name="Google Shape;674;p26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 MODEL EVALUATION</a:t>
            </a:r>
            <a:endParaRPr/>
          </a:p>
        </p:txBody>
      </p:sp>
      <p:sp>
        <p:nvSpPr>
          <p:cNvPr id="675" name="Google Shape;675;p26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MAE·RMSE·R² 계산</a:t>
            </a:r>
            <a:endParaRPr/>
          </a:p>
        </p:txBody>
      </p:sp>
      <p:sp>
        <p:nvSpPr>
          <p:cNvPr id="676" name="Google Shape;676;p26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오차 크기와 설명력을 함께 평가</a:t>
            </a:r>
            <a:endParaRPr/>
          </a:p>
        </p:txBody>
      </p:sp>
      <p:sp>
        <p:nvSpPr>
          <p:cNvPr id="677" name="Google Shape;677;p26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78" name="Google Shape;678;p26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679" name="Google Shape;679;p26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26</a:t>
            </a:r>
            <a:endParaRPr/>
          </a:p>
        </p:txBody>
      </p:sp>
      <p:sp>
        <p:nvSpPr>
          <p:cNvPr id="680" name="Google Shape;680;p26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81" name="Google Shape;681;p26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11_time_test_model.py  ·  L162–L181</a:t>
            </a:r>
            <a:endParaRPr/>
          </a:p>
        </p:txBody>
      </p:sp>
      <p:sp>
        <p:nvSpPr>
          <p:cNvPr id="682" name="Google Shape;682;p26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pred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pipeline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predict(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X_test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mae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mean_absolute_error(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y_test,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pred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rmse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mean_squared_error(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y_test,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pred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**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766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0.5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r2 </a:t>
            </a:r>
            <a:r>
              <a:rPr b="0" i="0" lang="en-US" sz="1766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r2_score(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y_test,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pred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6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66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83" name="Google Shape;683;p26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684" name="Google Shape;684;p26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Q4 X_test 예측 후 실제 y_test와 세 지표 비교</a:t>
            </a:r>
            <a:endParaRPr/>
          </a:p>
        </p:txBody>
      </p:sp>
      <p:sp>
        <p:nvSpPr>
          <p:cNvPr id="685" name="Google Shape;685;p26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686" name="Google Shape;686;p26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MAE: 평균 절대오차 / RMSE: 큰 오차에 민감 / R²: 설명력</a:t>
            </a:r>
            <a:endParaRPr/>
          </a:p>
        </p:txBody>
      </p:sp>
      <p:sp>
        <p:nvSpPr>
          <p:cNvPr id="687" name="Google Shape;687;p26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688" name="Google Shape;688;p26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단일 지표 대신 오차 크기와 설명력을 함께 봅니다. 같은 분기 실측 입력을 쓰므로 엄밀한 사전 미래 예측과 구분합니다.</a:t>
            </a:r>
            <a:endParaRPr/>
          </a:p>
        </p:txBody>
      </p:sp>
      <p:sp>
        <p:nvSpPr>
          <p:cNvPr id="689" name="Google Shape;689;p26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18 / 23  ·  원본 코드 열기  ·  11_time_test_model.py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7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96" name="Google Shape;696;p27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 EVALUATION EVIDENCE</a:t>
            </a:r>
            <a:endParaRPr/>
          </a:p>
        </p:txBody>
      </p:sp>
      <p:sp>
        <p:nvSpPr>
          <p:cNvPr id="697" name="Google Shape;697;p27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평가 수치는 표본과 실행 조건을 함께 공개</a:t>
            </a:r>
            <a:endParaRPr/>
          </a:p>
        </p:txBody>
      </p:sp>
      <p:sp>
        <p:nvSpPr>
          <p:cNvPr id="698" name="Google Shape;698;p27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기존 저장 예측 파일의 실제값·예측값을 재계산했습니다.</a:t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00" name="Google Shape;700;p27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701" name="Google Shape;701;p27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27</a:t>
            </a:r>
            <a:endParaRPr/>
          </a:p>
        </p:txBody>
      </p:sp>
      <p:sp>
        <p:nvSpPr>
          <p:cNvPr id="702" name="Google Shape;702;p27"/>
          <p:cNvSpPr/>
          <p:nvPr/>
        </p:nvSpPr>
        <p:spPr>
          <a:xfrm>
            <a:off x="548640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548640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04" name="Google Shape;704;p27"/>
          <p:cNvSpPr txBox="1"/>
          <p:nvPr/>
        </p:nvSpPr>
        <p:spPr>
          <a:xfrm>
            <a:off x="777240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MAE</a:t>
            </a:r>
            <a:endParaRPr/>
          </a:p>
        </p:txBody>
      </p:sp>
      <p:sp>
        <p:nvSpPr>
          <p:cNvPr id="705" name="Google Shape;705;p27"/>
          <p:cNvSpPr txBox="1"/>
          <p:nvPr/>
        </p:nvSpPr>
        <p:spPr>
          <a:xfrm>
            <a:off x="777240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1,470만원</a:t>
            </a:r>
            <a:endParaRPr/>
          </a:p>
        </p:txBody>
      </p:sp>
      <p:sp>
        <p:nvSpPr>
          <p:cNvPr id="706" name="Google Shape;706;p27"/>
          <p:cNvSpPr txBox="1"/>
          <p:nvPr/>
        </p:nvSpPr>
        <p:spPr>
          <a:xfrm>
            <a:off x="777240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평균 절대오차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정확값 14,704,847원</a:t>
            </a:r>
            <a:endParaRPr/>
          </a:p>
        </p:txBody>
      </p:sp>
      <p:sp>
        <p:nvSpPr>
          <p:cNvPr id="707" name="Google Shape;707;p27"/>
          <p:cNvSpPr/>
          <p:nvPr/>
        </p:nvSpPr>
        <p:spPr>
          <a:xfrm>
            <a:off x="5145024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5145024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09" name="Google Shape;709;p27"/>
          <p:cNvSpPr txBox="1"/>
          <p:nvPr/>
        </p:nvSpPr>
        <p:spPr>
          <a:xfrm>
            <a:off x="5373624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RMSE</a:t>
            </a:r>
            <a:endParaRPr/>
          </a:p>
        </p:txBody>
      </p:sp>
      <p:sp>
        <p:nvSpPr>
          <p:cNvPr id="710" name="Google Shape;710;p27"/>
          <p:cNvSpPr txBox="1"/>
          <p:nvPr/>
        </p:nvSpPr>
        <p:spPr>
          <a:xfrm>
            <a:off x="5373624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2,580만원</a:t>
            </a:r>
            <a:endParaRPr/>
          </a:p>
        </p:txBody>
      </p:sp>
      <p:sp>
        <p:nvSpPr>
          <p:cNvPr id="711" name="Google Shape;711;p27"/>
          <p:cNvSpPr txBox="1"/>
          <p:nvPr/>
        </p:nvSpPr>
        <p:spPr>
          <a:xfrm>
            <a:off x="5373624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큰 오차에 민감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정확값 25,795,030원</a:t>
            </a:r>
            <a:endParaRPr/>
          </a:p>
        </p:txBody>
      </p:sp>
      <p:sp>
        <p:nvSpPr>
          <p:cNvPr id="712" name="Google Shape;712;p27"/>
          <p:cNvSpPr/>
          <p:nvPr/>
        </p:nvSpPr>
        <p:spPr>
          <a:xfrm>
            <a:off x="9741408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13" name="Google Shape;713;p27"/>
          <p:cNvSpPr/>
          <p:nvPr/>
        </p:nvSpPr>
        <p:spPr>
          <a:xfrm>
            <a:off x="9741408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14" name="Google Shape;714;p27"/>
          <p:cNvSpPr txBox="1"/>
          <p:nvPr/>
        </p:nvSpPr>
        <p:spPr>
          <a:xfrm>
            <a:off x="9970008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R²</a:t>
            </a:r>
            <a:endParaRPr/>
          </a:p>
        </p:txBody>
      </p:sp>
      <p:sp>
        <p:nvSpPr>
          <p:cNvPr id="715" name="Google Shape;715;p27"/>
          <p:cNvSpPr txBox="1"/>
          <p:nvPr/>
        </p:nvSpPr>
        <p:spPr>
          <a:xfrm>
            <a:off x="9970008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0.5227</a:t>
            </a:r>
            <a:endParaRPr/>
          </a:p>
        </p:txBody>
      </p:sp>
      <p:sp>
        <p:nvSpPr>
          <p:cNvPr id="716" name="Google Shape;716;p27"/>
          <p:cNvSpPr txBox="1"/>
          <p:nvPr/>
        </p:nvSpPr>
        <p:spPr>
          <a:xfrm>
            <a:off x="9970008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평가 표본 변동의 약 52.3% 설명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정확도 52.27%를 뜻하지 않음</a:t>
            </a:r>
            <a:endParaRPr/>
          </a:p>
        </p:txBody>
      </p:sp>
      <p:sp>
        <p:nvSpPr>
          <p:cNvPr id="717" name="Google Shape;717;p27"/>
          <p:cNvSpPr txBox="1"/>
          <p:nvPr/>
        </p:nvSpPr>
        <p:spPr>
          <a:xfrm>
            <a:off x="640080" y="6675120"/>
            <a:ext cx="1316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기존 저장 결과 20,844행 ≠ 현재 Q4 21,063행. 현재 코드로 재평가한 성능은 아닙니다.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8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24" name="Google Shape;724;p28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04 MODEL ARTIFACT</a:t>
            </a:r>
            <a:endParaRPr/>
          </a:p>
        </p:txBody>
      </p:sp>
      <p:sp>
        <p:nvSpPr>
          <p:cNvPr id="725" name="Google Shape;725;p28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최종 학습 모델 저장</a:t>
            </a:r>
            <a:endParaRPr/>
          </a:p>
        </p:txBody>
      </p:sp>
      <p:sp>
        <p:nvSpPr>
          <p:cNvPr id="726" name="Google Shape;726;p28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웹 요청마다 모델을 새로 학습하지 않도록 결과를 보관</a:t>
            </a:r>
            <a:endParaRPr/>
          </a:p>
        </p:txBody>
      </p:sp>
      <p:sp>
        <p:nvSpPr>
          <p:cNvPr id="727" name="Google Shape;727;p28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28" name="Google Shape;728;p28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729" name="Google Shape;729;p28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28</a:t>
            </a:r>
            <a:endParaRPr/>
          </a:p>
        </p:txBody>
      </p:sp>
      <p:sp>
        <p:nvSpPr>
          <p:cNvPr id="730" name="Google Shape;730;p28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31" name="Google Shape;731;p28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12_final_ai_model.py  ·  L118–L130</a:t>
            </a:r>
            <a:endParaRPr/>
          </a:p>
        </p:txBody>
      </p:sp>
      <p:sp>
        <p:nvSpPr>
          <p:cNvPr id="732" name="Google Shape;732;p28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pipeline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fit(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X,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y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print(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"최종 AI 모델 학습 완료!"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joblib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dump(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pipeline,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BASE_DIR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'models/final_sales_model.pkl'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33" name="Google Shape;733;p28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734" name="Google Shape;734;p28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최종 학습된 Pipeline을 joblib.dump로 저장</a:t>
            </a:r>
            <a:endParaRPr/>
          </a:p>
        </p:txBody>
      </p:sp>
      <p:sp>
        <p:nvSpPr>
          <p:cNvPr id="735" name="Google Shape;735;p28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736" name="Google Shape;736;p28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models/final_sales_model.pkl을 서비스에서 재사용</a:t>
            </a:r>
            <a:endParaRPr/>
          </a:p>
        </p:txBody>
      </p:sp>
      <p:sp>
        <p:nvSpPr>
          <p:cNvPr id="737" name="Google Shape;737;p28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738" name="Google Shape;738;p28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서비스는 저장된 Pipeline을 읽습니다. 전체 데이터로 학습한 최종 모델 저장은 별도의 성능 평가가 아닙니다.</a:t>
            </a:r>
            <a:endParaRPr/>
          </a:p>
        </p:txBody>
      </p:sp>
      <p:sp>
        <p:nvSpPr>
          <p:cNvPr id="739" name="Google Shape;739;p28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19 / 23  ·  원본 코드 열기  ·  12_final_ai_model.py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9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46" name="Google Shape;746;p29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05 STREAMLIT RUNTIME</a:t>
            </a:r>
            <a:endParaRPr/>
          </a:p>
        </p:txBody>
      </p:sp>
      <p:sp>
        <p:nvSpPr>
          <p:cNvPr id="747" name="Google Shape;747;p29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Streamlit 데이터·모델 캐시</a:t>
            </a:r>
            <a:endParaRPr/>
          </a:p>
        </p:txBody>
      </p:sp>
      <p:sp>
        <p:nvSpPr>
          <p:cNvPr id="748" name="Google Shape;748;p29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화면 재실행마다 CSV 읽기와 모델 로딩이 반복되는 부담 감소</a:t>
            </a:r>
            <a:endParaRPr/>
          </a:p>
        </p:txBody>
      </p:sp>
      <p:sp>
        <p:nvSpPr>
          <p:cNvPr id="749" name="Google Shape;749;p29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50" name="Google Shape;750;p29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751" name="Google Shape;751;p29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29</a:t>
            </a:r>
            <a:endParaRPr/>
          </a:p>
        </p:txBody>
      </p:sp>
      <p:sp>
        <p:nvSpPr>
          <p:cNvPr id="752" name="Google Shape;752;p29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53" name="Google Shape;753;p29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app.py  ·  L26–L36</a:t>
            </a:r>
            <a:endParaRPr/>
          </a:p>
        </p:txBody>
      </p:sp>
      <p:sp>
        <p:nvSpPr>
          <p:cNvPr id="754" name="Google Shape;754;p29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@st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cache_data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def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load_data():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497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return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pd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read_csv(BASE_DIR 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497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"data/processed/startup_ranking_map.csv"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),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pd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read_csv(BASE_DIR 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497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"data/processed/hotplace_score_map.csv"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),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)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@st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cache_resource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def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load_model():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497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return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joblib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load(BASE_DIR </a:t>
            </a:r>
            <a:r>
              <a:rPr b="0" i="0" lang="en-US" sz="1497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/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497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"models/final_sales_model.pkl"</a:t>
            </a:r>
            <a:r>
              <a:rPr b="0" i="0" lang="en-US" sz="1497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97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55" name="Google Shape;755;p29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756" name="Google Shape;756;p29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cache_data로 데이터 반환값, cache_resource로 모델 인스턴스 재사용</a:t>
            </a:r>
            <a:endParaRPr/>
          </a:p>
        </p:txBody>
      </p:sp>
      <p:sp>
        <p:nvSpPr>
          <p:cNvPr id="757" name="Google Shape;757;p29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758" name="Google Shape;758;p29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사전 계산된 추천 CSV와 최종 pkl을 화면에 연결</a:t>
            </a:r>
            <a:endParaRPr/>
          </a:p>
        </p:txBody>
      </p:sp>
      <p:sp>
        <p:nvSpPr>
          <p:cNvPr id="759" name="Google Shape;759;p29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760" name="Google Shape;760;p29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CSV 반환값은 cache_data, 모델 객체는 cache_resource로 관리합니다. 화면 재실행과 무거운 자원 로딩의 책임을 구분했습니다.</a:t>
            </a:r>
            <a:endParaRPr/>
          </a:p>
        </p:txBody>
      </p:sp>
      <p:sp>
        <p:nvSpPr>
          <p:cNvPr id="761" name="Google Shape;761;p29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20 / 23  ·  원본 코드 열기  ·  app.py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0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68" name="Google Shape;768;p30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05 USER INTERACTION</a:t>
            </a:r>
            <a:endParaRPr/>
          </a:p>
        </p:txBody>
      </p:sp>
      <p:sp>
        <p:nvSpPr>
          <p:cNvPr id="769" name="Google Shape;769;p30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선택 업종의 TOP10 후보 추출</a:t>
            </a:r>
            <a:endParaRPr/>
          </a:p>
        </p:txBody>
      </p:sp>
      <p:sp>
        <p:nvSpPr>
          <p:cNvPr id="770" name="Google Shape;770;p30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사용자 입력을 실제 추천 테이블 조건으로 연결</a:t>
            </a: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72" name="Google Shape;772;p30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773" name="Google Shape;773;p30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30</a:t>
            </a:r>
            <a:endParaRPr/>
          </a:p>
        </p:txBody>
      </p:sp>
      <p:sp>
        <p:nvSpPr>
          <p:cNvPr id="774" name="Google Shape;774;p30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75" name="Google Shape;775;p30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app.py  ·  L194–L214</a:t>
            </a:r>
            <a:endParaRPr/>
          </a:p>
        </p:txBody>
      </p:sp>
      <p:sp>
        <p:nvSpPr>
          <p:cNvPr id="776" name="Google Shape;776;p30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result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startup[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startup[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"서비스_업종_코드_명"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selected_industry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copy()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result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result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sort_values(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"평균_창업추천점수"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ascending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False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result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result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head(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10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result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result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reset_index(drop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True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result[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"순위"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result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index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+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1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D088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77" name="Google Shape;777;p30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778" name="Google Shape;778;p30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선택한 업종 필터 → 평균 추천점수 내림차순 → head(10)</a:t>
            </a:r>
            <a:endParaRPr/>
          </a:p>
        </p:txBody>
      </p:sp>
      <p:sp>
        <p:nvSpPr>
          <p:cNvPr id="779" name="Google Shape;779;p30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780" name="Google Shape;780;p30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사용자 업종 선택 → TOP10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규칙 점수 기준 순위 표시</a:t>
            </a:r>
            <a:endParaRPr/>
          </a:p>
        </p:txBody>
      </p:sp>
      <p:sp>
        <p:nvSpPr>
          <p:cNvPr id="781" name="Google Shape;781;p30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782" name="Google Shape;782;p30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데이터 필터·정렬과 모델 추론을 분리했습니다. 사용자가 선택한 조건을 설명 가능한 결과로 연결합니다.</a:t>
            </a:r>
            <a:endParaRPr/>
          </a:p>
        </p:txBody>
      </p:sp>
      <p:sp>
        <p:nvSpPr>
          <p:cNvPr id="783" name="Google Shape;783;p30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21 / 23  ·  원본 코드 열기  ·  app.py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1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90" name="Google Shape;790;p31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05 MODEL SERVING</a:t>
            </a:r>
            <a:endParaRPr/>
          </a:p>
        </p:txBody>
      </p:sp>
      <p:sp>
        <p:nvSpPr>
          <p:cNvPr id="791" name="Google Shape;791;p31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화면 입력을 모델 컬럼에 맞춰 예측</a:t>
            </a:r>
            <a:endParaRPr/>
          </a:p>
        </p:txBody>
      </p:sp>
      <p:sp>
        <p:nvSpPr>
          <p:cNvPr id="792" name="Google Shape;792;p31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평균 집계 테이블과 학습 입력의 컬럼명을 일치시킴</a:t>
            </a:r>
            <a:endParaRPr/>
          </a:p>
        </p:txBody>
      </p:sp>
      <p:sp>
        <p:nvSpPr>
          <p:cNvPr id="793" name="Google Shape;793;p31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94" name="Google Shape;794;p31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795" name="Google Shape;795;p31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31</a:t>
            </a:r>
            <a:endParaRPr/>
          </a:p>
        </p:txBody>
      </p:sp>
      <p:sp>
        <p:nvSpPr>
          <p:cNvPr id="796" name="Google Shape;796;p31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97" name="Google Shape;797;p31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app.py  ·  L237–L250</a:t>
            </a:r>
            <a:endParaRPr/>
          </a:p>
        </p:txBody>
      </p:sp>
      <p:sp>
        <p:nvSpPr>
          <p:cNvPr id="798" name="Google Shape;798;p31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ai_input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ai_input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rename(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columns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{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"평균_총_유동인구"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: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"총_유동인구_수"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"평균_2030비율"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: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"2030비율"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"평균_점포_수"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: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"점포_수"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"평균_폐업비율"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: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"폐업비율"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}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result[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"AI_예상_월매출"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]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ai_model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predict(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ai_input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99" name="Google Shape;799;p31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800" name="Google Shape;800;p31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평균_* 컬럼을 학습 컬럼으로 변경 후 predict(ai_input)</a:t>
            </a:r>
            <a:endParaRPr/>
          </a:p>
        </p:txBody>
      </p:sp>
      <p:sp>
        <p:nvSpPr>
          <p:cNvPr id="801" name="Google Shape;801;p31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802" name="Google Shape;802;p31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AI_예상_월매출 컬럼에 예측 결과 추가</a:t>
            </a:r>
            <a:endParaRPr/>
          </a:p>
        </p:txBody>
      </p:sp>
      <p:sp>
        <p:nvSpPr>
          <p:cNvPr id="803" name="Google Shape;803;p31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804" name="Google Shape;804;p31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평균 집계 컬럼을 학습 컬럼명으로 맞춰 추론합니다. 평균 입력 예측과 분기별 예측 평균은 다를 수 있습니다.</a:t>
            </a:r>
            <a:endParaRPr/>
          </a:p>
        </p:txBody>
      </p:sp>
      <p:sp>
        <p:nvSpPr>
          <p:cNvPr id="805" name="Google Shape;805;p31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22 / 23  ·  원본 코드 열기  ·  app.py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2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12" name="Google Shape;812;p32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05 SERVICE EVIDENCE</a:t>
            </a:r>
            <a:endParaRPr/>
          </a:p>
        </p:txBody>
      </p:sp>
      <p:sp>
        <p:nvSpPr>
          <p:cNvPr id="813" name="Google Shape;813;p32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분석 지표·추천 순위·예상 매출을 한 화면에</a:t>
            </a:r>
            <a:endParaRPr/>
          </a:p>
        </p:txBody>
      </p:sp>
      <p:sp>
        <p:nvSpPr>
          <p:cNvPr id="814" name="Google Shape;814;p32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첨부 자료의 실제 서비스 캡처를 사용했습니다.</a:t>
            </a:r>
            <a:endParaRPr/>
          </a:p>
        </p:txBody>
      </p:sp>
      <p:sp>
        <p:nvSpPr>
          <p:cNvPr id="815" name="Google Shape;815;p32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16" name="Google Shape;816;p32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817" name="Google Shape;817;p32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32</a:t>
            </a:r>
            <a:endParaRPr/>
          </a:p>
        </p:txBody>
      </p:sp>
      <p:pic>
        <p:nvPicPr>
          <p:cNvPr descr="upload_img_3_10.png" id="818" name="Google Shape;81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514600"/>
            <a:ext cx="8138160" cy="51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32"/>
          <p:cNvSpPr txBox="1"/>
          <p:nvPr/>
        </p:nvSpPr>
        <p:spPr>
          <a:xfrm>
            <a:off x="9601200" y="276148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 흐름</a:t>
            </a:r>
            <a:endParaRPr/>
          </a:p>
        </p:txBody>
      </p:sp>
      <p:sp>
        <p:nvSpPr>
          <p:cNvPr id="820" name="Google Shape;820;p32"/>
          <p:cNvSpPr txBox="1"/>
          <p:nvPr/>
        </p:nvSpPr>
        <p:spPr>
          <a:xfrm>
            <a:off x="9601200" y="3520440"/>
            <a:ext cx="42976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① 업종을 선택한다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3243A"/>
              </a:solidFill>
              <a:latin typeface="Sen"/>
              <a:ea typeface="Sen"/>
              <a:cs typeface="Sen"/>
              <a:sym typeface="Se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② 추천 TOP10을 비교한다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3243A"/>
              </a:solidFill>
              <a:latin typeface="Sen"/>
              <a:ea typeface="Sen"/>
              <a:cs typeface="Sen"/>
              <a:sym typeface="Se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③ 원래 지표와 예상 매출을 본다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3243A"/>
              </a:solidFill>
              <a:latin typeface="Sen"/>
              <a:ea typeface="Sen"/>
              <a:cs typeface="Sen"/>
              <a:sym typeface="Se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88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④ 지도에서 위치를 확인한다</a:t>
            </a:r>
            <a:endParaRPr/>
          </a:p>
        </p:txBody>
      </p:sp>
      <p:sp>
        <p:nvSpPr>
          <p:cNvPr id="821" name="Google Shape;821;p32"/>
          <p:cNvSpPr txBox="1"/>
          <p:nvPr/>
        </p:nvSpPr>
        <p:spPr>
          <a:xfrm>
            <a:off x="9601200" y="681228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캡처의 예측값은 과거 화면 예시이며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신규 검증 결과가 아닙니다.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3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28" name="Google Shape;828;p33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05 QUESTION ROUTING</a:t>
            </a:r>
            <a:endParaRPr/>
          </a:p>
        </p:txBody>
      </p:sp>
      <p:sp>
        <p:nvSpPr>
          <p:cNvPr id="829" name="Google Shape;829;p33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사용자 질문을 키워드 조회로 처리</a:t>
            </a:r>
            <a:endParaRPr/>
          </a:p>
        </p:txBody>
      </p:sp>
      <p:sp>
        <p:nvSpPr>
          <p:cNvPr id="830" name="Google Shape;830;p33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질문에서 목적을 판별해 해당 지표 순위를 조회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32" name="Google Shape;832;p33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833" name="Google Shape;833;p33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33</a:t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>
            <a:off x="548640" y="2514600"/>
            <a:ext cx="8321040" cy="4892040"/>
          </a:xfrm>
          <a:prstGeom prst="rect">
            <a:avLst/>
          </a:prstGeom>
          <a:solidFill>
            <a:srgbClr val="11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35" name="Google Shape;835;p33"/>
          <p:cNvSpPr txBox="1"/>
          <p:nvPr/>
        </p:nvSpPr>
        <p:spPr>
          <a:xfrm>
            <a:off x="795528" y="2679192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AB4CF"/>
                </a:solidFill>
                <a:latin typeface="Sen"/>
                <a:ea typeface="Sen"/>
                <a:cs typeface="Sen"/>
                <a:sym typeface="Sen"/>
              </a:rPr>
              <a:t>app.py  ·  L538–L551</a:t>
            </a:r>
            <a:endParaRPr/>
          </a:p>
        </p:txBody>
      </p:sp>
      <p:sp>
        <p:nvSpPr>
          <p:cNvPr id="836" name="Google Shape;836;p33"/>
          <p:cNvSpPr txBox="1"/>
          <p:nvPr/>
        </p:nvSpPr>
        <p:spPr>
          <a:xfrm>
            <a:off x="804672" y="3154680"/>
            <a:ext cx="77724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question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""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join(consumer_question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split())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if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"주말"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in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question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and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(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"유동"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in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question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or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"사람"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in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question)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):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weekend_result 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latest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sort_values(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</a:t>
            </a:r>
            <a:r>
              <a:rPr b="0" i="0" lang="en-US" sz="1800" u="none" cap="none" strike="noStrike">
                <a:solidFill>
                  <a:srgbClr val="B7E5AC"/>
                </a:solidFill>
                <a:latin typeface="Sen"/>
                <a:ea typeface="Sen"/>
                <a:cs typeface="Sen"/>
                <a:sym typeface="Sen"/>
              </a:rPr>
              <a:t>"주말_유동인구_수"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,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    ascending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=</a:t>
            </a:r>
            <a:r>
              <a:rPr b="0" i="0" lang="en-US" sz="1800" u="none" cap="none" strike="noStrike">
                <a:solidFill>
                  <a:srgbClr val="73CAFF"/>
                </a:solidFill>
                <a:latin typeface="Sen"/>
                <a:ea typeface="Sen"/>
                <a:cs typeface="Sen"/>
                <a:sym typeface="Sen"/>
              </a:rPr>
              <a:t>False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    )</a:t>
            </a:r>
            <a:r>
              <a:rPr b="0" i="0" lang="en-US" sz="1800" u="none" cap="none" strike="noStrike">
                <a:solidFill>
                  <a:srgbClr val="AFBCFF"/>
                </a:solidFill>
                <a:latin typeface="Sen"/>
                <a:ea typeface="Sen"/>
                <a:cs typeface="Sen"/>
                <a:sym typeface="Sen"/>
              </a:rPr>
              <a:t>.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head(</a:t>
            </a:r>
            <a:r>
              <a:rPr b="0" i="0" lang="en-US" sz="1800" u="none" cap="none" strike="noStrike">
                <a:solidFill>
                  <a:srgbClr val="FFD088"/>
                </a:solidFill>
                <a:latin typeface="Sen"/>
                <a:ea typeface="Sen"/>
                <a:cs typeface="Sen"/>
                <a:sym typeface="Sen"/>
              </a:rPr>
              <a:t>5</a:t>
            </a:r>
            <a:r>
              <a:rPr b="0" i="0" lang="en-US" sz="1800" u="none" cap="none" strike="noStrike">
                <a:solidFill>
                  <a:srgbClr val="E9F1FA"/>
                </a:solidFill>
                <a:latin typeface="Sen"/>
                <a:ea typeface="Sen"/>
                <a:cs typeface="Sen"/>
                <a:sym typeface="Sen"/>
              </a:rPr>
              <a:t>)</a:t>
            </a:r>
            <a:endParaRPr/>
          </a:p>
          <a:p>
            <a:pPr indent="0" lvl="0" marL="0" marR="0" rtl="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E9F1FA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37" name="Google Shape;837;p33"/>
          <p:cNvSpPr txBox="1"/>
          <p:nvPr/>
        </p:nvSpPr>
        <p:spPr>
          <a:xfrm>
            <a:off x="9208008" y="267004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무엇을 구현했나</a:t>
            </a:r>
            <a:endParaRPr/>
          </a:p>
        </p:txBody>
      </p:sp>
      <p:sp>
        <p:nvSpPr>
          <p:cNvPr id="838" name="Google Shape;838;p33"/>
          <p:cNvSpPr txBox="1"/>
          <p:nvPr/>
        </p:nvSpPr>
        <p:spPr>
          <a:xfrm>
            <a:off x="9208008" y="314553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공백 제거 후 주말·유동·사람 키워드 검사, 주말 인구 상위 5개</a:t>
            </a:r>
            <a:endParaRPr/>
          </a:p>
        </p:txBody>
      </p:sp>
      <p:sp>
        <p:nvSpPr>
          <p:cNvPr id="839" name="Google Shape;839;p33"/>
          <p:cNvSpPr txBox="1"/>
          <p:nvPr/>
        </p:nvSpPr>
        <p:spPr>
          <a:xfrm>
            <a:off x="9208008" y="408736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사용자에게 연결되는 결과</a:t>
            </a:r>
            <a:endParaRPr/>
          </a:p>
        </p:txBody>
      </p:sp>
      <p:sp>
        <p:nvSpPr>
          <p:cNvPr id="840" name="Google Shape;840;p33"/>
          <p:cNvSpPr txBox="1"/>
          <p:nvPr/>
        </p:nvSpPr>
        <p:spPr>
          <a:xfrm>
            <a:off x="9208008" y="4562856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저장된 최신 분기 데이터에서 질문에 맞는 상권 반환</a:t>
            </a:r>
            <a:endParaRPr/>
          </a:p>
        </p:txBody>
      </p:sp>
      <p:sp>
        <p:nvSpPr>
          <p:cNvPr id="841" name="Google Shape;841;p33"/>
          <p:cNvSpPr txBox="1"/>
          <p:nvPr/>
        </p:nvSpPr>
        <p:spPr>
          <a:xfrm>
            <a:off x="9208008" y="550468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개발 관점의 설계 판단</a:t>
            </a:r>
            <a:endParaRPr/>
          </a:p>
        </p:txBody>
      </p:sp>
      <p:sp>
        <p:nvSpPr>
          <p:cNvPr id="842" name="Google Shape;842;p33"/>
          <p:cNvSpPr txBox="1"/>
          <p:nvPr/>
        </p:nvSpPr>
        <p:spPr>
          <a:xfrm>
            <a:off x="9208008" y="5980175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질문을 공백 정규화한 뒤 키워드로 분기합니다. 생성형 AI 호출이 아닌 데이터 조회라는 구현 범위를 명확히 설명합니다.</a:t>
            </a:r>
            <a:endParaRPr/>
          </a:p>
        </p:txBody>
      </p:sp>
      <p:sp>
        <p:nvSpPr>
          <p:cNvPr id="843" name="Google Shape;843;p33"/>
          <p:cNvSpPr txBox="1"/>
          <p:nvPr/>
        </p:nvSpPr>
        <p:spPr>
          <a:xfrm>
            <a:off x="640080" y="7525512"/>
            <a:ext cx="1325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실제 코드  23 / 23  ·  원본 코드 열기  ·  app.py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4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50" name="Google Shape;850;p34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06 ENGINEERING REVIEW</a:t>
            </a:r>
            <a:endParaRPr/>
          </a:p>
        </p:txBody>
      </p:sp>
      <p:sp>
        <p:nvSpPr>
          <p:cNvPr id="851" name="Google Shape;851;p34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개발 역량을 보여주는 구현 근거</a:t>
            </a:r>
            <a:endParaRPr/>
          </a:p>
        </p:txBody>
      </p:sp>
      <p:sp>
        <p:nvSpPr>
          <p:cNvPr id="852" name="Google Shape;852;p34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코드에서 확인되는 설계 판단을 기능과 연결했습니다.</a:t>
            </a:r>
            <a:endParaRPr/>
          </a:p>
        </p:txBody>
      </p:sp>
      <p:sp>
        <p:nvSpPr>
          <p:cNvPr id="853" name="Google Shape;853;p34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54" name="Google Shape;854;p34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855" name="Google Shape;855;p34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34</a:t>
            </a:r>
            <a:endParaRPr/>
          </a:p>
        </p:txBody>
      </p:sp>
      <p:sp>
        <p:nvSpPr>
          <p:cNvPr id="856" name="Google Shape;856;p34"/>
          <p:cNvSpPr/>
          <p:nvPr/>
        </p:nvSpPr>
        <p:spPr>
          <a:xfrm>
            <a:off x="548640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548640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58" name="Google Shape;858;p34"/>
          <p:cNvSpPr txBox="1"/>
          <p:nvPr/>
        </p:nvSpPr>
        <p:spPr>
          <a:xfrm>
            <a:off x="777240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DATA CONTRACT</a:t>
            </a: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777240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정합성 검증</a:t>
            </a:r>
            <a:endParaRPr/>
          </a:p>
        </p:txBody>
      </p:sp>
      <p:sp>
        <p:nvSpPr>
          <p:cNvPr id="860" name="Google Shape;860;p34"/>
          <p:cNvSpPr txBox="1"/>
          <p:nvPr/>
        </p:nvSpPr>
        <p:spPr>
          <a:xfrm>
            <a:off x="777240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명시적 병합 키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many_to_one 검증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분모 0·핵심 결측 처리</a:t>
            </a:r>
            <a:endParaRPr/>
          </a:p>
        </p:txBody>
      </p:sp>
      <p:sp>
        <p:nvSpPr>
          <p:cNvPr id="861" name="Google Shape;861;p34"/>
          <p:cNvSpPr/>
          <p:nvPr/>
        </p:nvSpPr>
        <p:spPr>
          <a:xfrm>
            <a:off x="5145024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62" name="Google Shape;862;p34"/>
          <p:cNvSpPr/>
          <p:nvPr/>
        </p:nvSpPr>
        <p:spPr>
          <a:xfrm>
            <a:off x="5145024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63" name="Google Shape;863;p34"/>
          <p:cNvSpPr txBox="1"/>
          <p:nvPr/>
        </p:nvSpPr>
        <p:spPr>
          <a:xfrm>
            <a:off x="5373624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REUSE</a:t>
            </a:r>
            <a:endParaRPr/>
          </a:p>
        </p:txBody>
      </p:sp>
      <p:sp>
        <p:nvSpPr>
          <p:cNvPr id="864" name="Google Shape;864;p34"/>
          <p:cNvSpPr txBox="1"/>
          <p:nvPr/>
        </p:nvSpPr>
        <p:spPr>
          <a:xfrm>
            <a:off x="5373624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책임 분리</a:t>
            </a:r>
            <a:endParaRPr/>
          </a:p>
        </p:txBody>
      </p:sp>
      <p:sp>
        <p:nvSpPr>
          <p:cNvPr id="865" name="Google Shape;865;p34"/>
          <p:cNvSpPr txBox="1"/>
          <p:nvPr/>
        </p:nvSpPr>
        <p:spPr>
          <a:xfrm>
            <a:off x="5373624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원본·가공·모델 경로 분리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공통 지도·차트 함수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전처리+모델 Pipeline</a:t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9741408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9741408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68" name="Google Shape;868;p34"/>
          <p:cNvSpPr txBox="1"/>
          <p:nvPr/>
        </p:nvSpPr>
        <p:spPr>
          <a:xfrm>
            <a:off x="9970008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OPERATIONS</a:t>
            </a:r>
            <a:endParaRPr/>
          </a:p>
        </p:txBody>
      </p:sp>
      <p:sp>
        <p:nvSpPr>
          <p:cNvPr id="869" name="Google Shape;869;p34"/>
          <p:cNvSpPr txBox="1"/>
          <p:nvPr/>
        </p:nvSpPr>
        <p:spPr>
          <a:xfrm>
            <a:off x="9970008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실행 비용 관리</a:t>
            </a:r>
            <a:endParaRPr/>
          </a:p>
        </p:txBody>
      </p:sp>
      <p:sp>
        <p:nvSpPr>
          <p:cNvPr id="870" name="Google Shape;870;p34"/>
          <p:cNvSpPr txBox="1"/>
          <p:nvPr/>
        </p:nvSpPr>
        <p:spPr>
          <a:xfrm>
            <a:off x="9970008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사전 계산 CSV 로딩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데이터·모델 캐시 구분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학습과 화면 추론 분리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640080" y="6675120"/>
            <a:ext cx="1316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개인 기여 비율·성능 개선율처럼 자료로 확인되지 않은 주장은 추가하지 않았습니다.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5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78" name="Google Shape;878;p35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06 VALIDATION &amp; LIMITS</a:t>
            </a:r>
            <a:endParaRPr/>
          </a:p>
        </p:txBody>
      </p:sp>
      <p:sp>
        <p:nvSpPr>
          <p:cNvPr id="879" name="Google Shape;879;p35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검증한 사실과 남은 과제를 구분한다</a:t>
            </a:r>
            <a:endParaRPr/>
          </a:p>
        </p:txBody>
      </p:sp>
      <p:sp>
        <p:nvSpPr>
          <p:cNvPr id="880" name="Google Shape;880;p35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구현의 신뢰성은 수치와 한계를 함께 설명할 때 드러납니다.</a:t>
            </a:r>
            <a:endParaRPr/>
          </a:p>
        </p:txBody>
      </p:sp>
      <p:sp>
        <p:nvSpPr>
          <p:cNvPr id="881" name="Google Shape;881;p35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82" name="Google Shape;882;p35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883" name="Google Shape;883;p35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35</a:t>
            </a:r>
            <a:endParaRPr/>
          </a:p>
        </p:txBody>
      </p:sp>
      <p:sp>
        <p:nvSpPr>
          <p:cNvPr id="884" name="Google Shape;884;p35"/>
          <p:cNvSpPr/>
          <p:nvPr/>
        </p:nvSpPr>
        <p:spPr>
          <a:xfrm>
            <a:off x="548640" y="2651760"/>
            <a:ext cx="1353312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85" name="Google Shape;885;p35"/>
          <p:cNvSpPr txBox="1"/>
          <p:nvPr/>
        </p:nvSpPr>
        <p:spPr>
          <a:xfrm>
            <a:off x="777240" y="28346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확인한 사실</a:t>
            </a:r>
            <a:endParaRPr/>
          </a:p>
        </p:txBody>
      </p:sp>
      <p:sp>
        <p:nvSpPr>
          <p:cNvPr id="886" name="Google Shape;886;p35"/>
          <p:cNvSpPr txBox="1"/>
          <p:nvPr/>
        </p:nvSpPr>
        <p:spPr>
          <a:xfrm>
            <a:off x="3337560" y="2816352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핵심 결측 1,057행 제외 · 정제 결과 결측·행 중복 0 · 지도 좌표 결측 0</a:t>
            </a:r>
            <a:endParaRPr/>
          </a:p>
        </p:txBody>
      </p:sp>
      <p:sp>
        <p:nvSpPr>
          <p:cNvPr id="887" name="Google Shape;887;p35"/>
          <p:cNvSpPr/>
          <p:nvPr/>
        </p:nvSpPr>
        <p:spPr>
          <a:xfrm>
            <a:off x="548640" y="3730752"/>
            <a:ext cx="1353312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88" name="Google Shape;888;p35"/>
          <p:cNvSpPr txBox="1"/>
          <p:nvPr/>
        </p:nvSpPr>
        <p:spPr>
          <a:xfrm>
            <a:off x="777240" y="391363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평가 범위</a:t>
            </a:r>
            <a:endParaRPr/>
          </a:p>
        </p:txBody>
      </p:sp>
      <p:sp>
        <p:nvSpPr>
          <p:cNvPr id="889" name="Google Shape;889;p35"/>
          <p:cNvSpPr txBox="1"/>
          <p:nvPr/>
        </p:nvSpPr>
        <p:spPr>
          <a:xfrm>
            <a:off x="3337560" y="3895344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기존 평가 CSV 재계산 · 현재 전체 Q4 재학습·재평가는 미실행</a:t>
            </a:r>
            <a:endParaRPr/>
          </a:p>
        </p:txBody>
      </p:sp>
      <p:sp>
        <p:nvSpPr>
          <p:cNvPr id="890" name="Google Shape;890;p35"/>
          <p:cNvSpPr/>
          <p:nvPr/>
        </p:nvSpPr>
        <p:spPr>
          <a:xfrm>
            <a:off x="548640" y="4809744"/>
            <a:ext cx="1353312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91" name="Google Shape;891;p35"/>
          <p:cNvSpPr txBox="1"/>
          <p:nvPr/>
        </p:nvSpPr>
        <p:spPr>
          <a:xfrm>
            <a:off x="777240" y="499262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경제성 한계</a:t>
            </a:r>
            <a:endParaRPr/>
          </a:p>
        </p:txBody>
      </p:sp>
      <p:sp>
        <p:nvSpPr>
          <p:cNvPr id="892" name="Google Shape;892;p35"/>
          <p:cNvSpPr txBox="1"/>
          <p:nvPr/>
        </p:nvSpPr>
        <p:spPr>
          <a:xfrm>
            <a:off x="3337560" y="4974336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임대료·권리금·인건비·원가 미포함 → 높은 매출이 높은 이익을 보장하지 않음</a:t>
            </a:r>
            <a:endParaRPr/>
          </a:p>
        </p:txBody>
      </p:sp>
      <p:sp>
        <p:nvSpPr>
          <p:cNvPr id="893" name="Google Shape;893;p35"/>
          <p:cNvSpPr/>
          <p:nvPr/>
        </p:nvSpPr>
        <p:spPr>
          <a:xfrm>
            <a:off x="548640" y="5888736"/>
            <a:ext cx="1353312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94" name="Google Shape;894;p35"/>
          <p:cNvSpPr txBox="1"/>
          <p:nvPr/>
        </p:nvSpPr>
        <p:spPr>
          <a:xfrm>
            <a:off x="777240" y="607161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다음 검증</a:t>
            </a:r>
            <a:endParaRPr/>
          </a:p>
        </p:txBody>
      </p:sp>
      <p:sp>
        <p:nvSpPr>
          <p:cNvPr id="895" name="Google Shape;895;p35"/>
          <p:cNvSpPr txBox="1"/>
          <p:nvPr/>
        </p:nvSpPr>
        <p:spPr>
          <a:xfrm>
            <a:off x="3337560" y="6053327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가중치 ±10% · 업종별 오차 · 관측 분기 수 · 반복 분기 검증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6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02" name="Google Shape;902;p36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06 ROADMAP</a:t>
            </a:r>
            <a:endParaRPr/>
          </a:p>
        </p:txBody>
      </p:sp>
      <p:sp>
        <p:nvSpPr>
          <p:cNvPr id="903" name="Google Shape;903;p36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다음 고도화는 근거를 더 잘 남기는 것부터</a:t>
            </a:r>
            <a:endParaRPr/>
          </a:p>
        </p:txBody>
      </p:sp>
      <p:sp>
        <p:nvSpPr>
          <p:cNvPr id="904" name="Google Shape;904;p36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구현 완료 항목과 향후 계획을 구분했습니다.</a:t>
            </a:r>
            <a:endParaRPr/>
          </a:p>
        </p:txBody>
      </p:sp>
      <p:sp>
        <p:nvSpPr>
          <p:cNvPr id="905" name="Google Shape;905;p36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06" name="Google Shape;906;p36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907" name="Google Shape;907;p36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36</a:t>
            </a:r>
            <a:endParaRPr/>
          </a:p>
        </p:txBody>
      </p:sp>
      <p:sp>
        <p:nvSpPr>
          <p:cNvPr id="908" name="Google Shape;908;p36"/>
          <p:cNvSpPr/>
          <p:nvPr/>
        </p:nvSpPr>
        <p:spPr>
          <a:xfrm>
            <a:off x="548640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09" name="Google Shape;909;p36"/>
          <p:cNvSpPr/>
          <p:nvPr/>
        </p:nvSpPr>
        <p:spPr>
          <a:xfrm>
            <a:off x="548640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10" name="Google Shape;910;p36"/>
          <p:cNvSpPr txBox="1"/>
          <p:nvPr/>
        </p:nvSpPr>
        <p:spPr>
          <a:xfrm>
            <a:off x="777240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01 QUALITY</a:t>
            </a:r>
            <a:endParaRPr/>
          </a:p>
        </p:txBody>
      </p:sp>
      <p:sp>
        <p:nvSpPr>
          <p:cNvPr id="911" name="Google Shape;911;p36"/>
          <p:cNvSpPr txBox="1"/>
          <p:nvPr/>
        </p:nvSpPr>
        <p:spPr>
          <a:xfrm>
            <a:off x="777240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출처·품질 로그</a:t>
            </a:r>
            <a:endParaRPr/>
          </a:p>
        </p:txBody>
      </p:sp>
      <p:sp>
        <p:nvSpPr>
          <p:cNvPr id="912" name="Google Shape;912;p36"/>
          <p:cNvSpPr txBox="1"/>
          <p:nvPr/>
        </p:nvSpPr>
        <p:spPr>
          <a:xfrm>
            <a:off x="777240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개별 URL·수집일·단위 기록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제외 사유·병합 일치율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관측 분기 수 공개</a:t>
            </a:r>
            <a:endParaRPr/>
          </a:p>
        </p:txBody>
      </p:sp>
      <p:sp>
        <p:nvSpPr>
          <p:cNvPr id="913" name="Google Shape;913;p36"/>
          <p:cNvSpPr/>
          <p:nvPr/>
        </p:nvSpPr>
        <p:spPr>
          <a:xfrm>
            <a:off x="5145024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14" name="Google Shape;914;p36"/>
          <p:cNvSpPr/>
          <p:nvPr/>
        </p:nvSpPr>
        <p:spPr>
          <a:xfrm>
            <a:off x="5145024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15" name="Google Shape;915;p36"/>
          <p:cNvSpPr txBox="1"/>
          <p:nvPr/>
        </p:nvSpPr>
        <p:spPr>
          <a:xfrm>
            <a:off x="5373624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02 VALIDATION</a:t>
            </a:r>
            <a:endParaRPr/>
          </a:p>
        </p:txBody>
      </p:sp>
      <p:sp>
        <p:nvSpPr>
          <p:cNvPr id="916" name="Google Shape;916;p36"/>
          <p:cNvSpPr txBox="1"/>
          <p:nvPr/>
        </p:nvSpPr>
        <p:spPr>
          <a:xfrm>
            <a:off x="5373624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점수·모델 검증</a:t>
            </a:r>
            <a:endParaRPr/>
          </a:p>
        </p:txBody>
      </p:sp>
      <p:sp>
        <p:nvSpPr>
          <p:cNvPr id="917" name="Google Shape;917;p36"/>
          <p:cNvSpPr txBox="1"/>
          <p:nvPr/>
        </p:nvSpPr>
        <p:spPr>
          <a:xfrm>
            <a:off x="5373624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가중치 민감도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업종별 기준모델 비교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전체 Q4 재평가</a:t>
            </a:r>
            <a:endParaRPr/>
          </a:p>
        </p:txBody>
      </p:sp>
      <p:sp>
        <p:nvSpPr>
          <p:cNvPr id="918" name="Google Shape;918;p36"/>
          <p:cNvSpPr/>
          <p:nvPr/>
        </p:nvSpPr>
        <p:spPr>
          <a:xfrm>
            <a:off x="9741408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19" name="Google Shape;919;p36"/>
          <p:cNvSpPr/>
          <p:nvPr/>
        </p:nvSpPr>
        <p:spPr>
          <a:xfrm>
            <a:off x="9741408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20" name="Google Shape;920;p36"/>
          <p:cNvSpPr txBox="1"/>
          <p:nvPr/>
        </p:nvSpPr>
        <p:spPr>
          <a:xfrm>
            <a:off x="9970008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03 EXPANSION</a:t>
            </a:r>
            <a:endParaRPr/>
          </a:p>
        </p:txBody>
      </p:sp>
      <p:sp>
        <p:nvSpPr>
          <p:cNvPr id="921" name="Google Shape;921;p36"/>
          <p:cNvSpPr txBox="1"/>
          <p:nvPr/>
        </p:nvSpPr>
        <p:spPr>
          <a:xfrm>
            <a:off x="9970008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범위와 갱신</a:t>
            </a:r>
            <a:endParaRPr/>
          </a:p>
        </p:txBody>
      </p:sp>
      <p:sp>
        <p:nvSpPr>
          <p:cNvPr id="922" name="Google Shape;922;p36"/>
          <p:cNvSpPr txBox="1"/>
          <p:nvPr/>
        </p:nvSpPr>
        <p:spPr>
          <a:xfrm>
            <a:off x="9970008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2024~2026 공통 범위 구성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임대료·시설 품질 확인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정기 갱신과 롤링 검증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8"/>
          <p:cNvSpPr/>
          <p:nvPr/>
        </p:nvSpPr>
        <p:spPr>
          <a:xfrm>
            <a:off x="502920" y="365760"/>
            <a:ext cx="73152" cy="228600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29" name="Google Shape;929;p38"/>
          <p:cNvSpPr txBox="1"/>
          <p:nvPr/>
        </p:nvSpPr>
        <p:spPr>
          <a:xfrm>
            <a:off x="731520" y="301752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APPENDIX · SOURCES</a:t>
            </a:r>
            <a:endParaRPr/>
          </a:p>
        </p:txBody>
      </p:sp>
      <p:sp>
        <p:nvSpPr>
          <p:cNvPr id="930" name="Google Shape;930;p38"/>
          <p:cNvSpPr txBox="1"/>
          <p:nvPr/>
        </p:nvSpPr>
        <p:spPr>
          <a:xfrm>
            <a:off x="548640" y="868680"/>
            <a:ext cx="1353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세 자료의 역할과 실제 근거</a:t>
            </a:r>
            <a:endParaRPr/>
          </a:p>
        </p:txBody>
      </p:sp>
      <p:sp>
        <p:nvSpPr>
          <p:cNvPr id="931" name="Google Shape;931;p38"/>
          <p:cNvSpPr txBox="1"/>
          <p:nvPr/>
        </p:nvSpPr>
        <p:spPr>
          <a:xfrm>
            <a:off x="585216" y="1719072"/>
            <a:ext cx="1344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첨부자료의 내용은 참고 정보로 사용하고 프로젝트 코드와 대조했습니다.</a:t>
            </a:r>
            <a:endParaRPr/>
          </a:p>
        </p:txBody>
      </p:sp>
      <p:sp>
        <p:nvSpPr>
          <p:cNvPr id="932" name="Google Shape;932;p38"/>
          <p:cNvSpPr/>
          <p:nvPr/>
        </p:nvSpPr>
        <p:spPr>
          <a:xfrm>
            <a:off x="548640" y="7827264"/>
            <a:ext cx="13533120" cy="10972"/>
          </a:xfrm>
          <a:prstGeom prst="rect">
            <a:avLst/>
          </a:prstGeom>
          <a:solidFill>
            <a:srgbClr val="DCE5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33" name="Google Shape;933;p38"/>
          <p:cNvSpPr txBox="1"/>
          <p:nvPr/>
        </p:nvSpPr>
        <p:spPr>
          <a:xfrm>
            <a:off x="594360" y="7918704"/>
            <a:ext cx="1188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CA1B8"/>
                </a:solidFill>
                <a:latin typeface="Sen"/>
                <a:ea typeface="Sen"/>
                <a:cs typeface="Sen"/>
                <a:sym typeface="Sen"/>
              </a:rPr>
              <a:t>PARK MIN SUN  /  SEOUL COMMERCIAL DATA  /  ANALYSIS × ENGINEERING</a:t>
            </a:r>
            <a:endParaRPr/>
          </a:p>
        </p:txBody>
      </p:sp>
      <p:sp>
        <p:nvSpPr>
          <p:cNvPr id="934" name="Google Shape;934;p38"/>
          <p:cNvSpPr txBox="1"/>
          <p:nvPr/>
        </p:nvSpPr>
        <p:spPr>
          <a:xfrm>
            <a:off x="13533120" y="7882127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38</a:t>
            </a:r>
            <a:endParaRPr/>
          </a:p>
        </p:txBody>
      </p:sp>
      <p:sp>
        <p:nvSpPr>
          <p:cNvPr id="935" name="Google Shape;935;p38"/>
          <p:cNvSpPr/>
          <p:nvPr/>
        </p:nvSpPr>
        <p:spPr>
          <a:xfrm>
            <a:off x="548640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36" name="Google Shape;936;p38"/>
          <p:cNvSpPr/>
          <p:nvPr/>
        </p:nvSpPr>
        <p:spPr>
          <a:xfrm>
            <a:off x="548640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37" name="Google Shape;937;p38"/>
          <p:cNvSpPr txBox="1"/>
          <p:nvPr/>
        </p:nvSpPr>
        <p:spPr>
          <a:xfrm>
            <a:off x="777240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발표자료 PPT</a:t>
            </a:r>
            <a:endParaRPr/>
          </a:p>
        </p:txBody>
      </p:sp>
      <p:sp>
        <p:nvSpPr>
          <p:cNvPr id="938" name="Google Shape;938;p38"/>
          <p:cNvSpPr txBox="1"/>
          <p:nvPr/>
        </p:nvSpPr>
        <p:spPr>
          <a:xfrm>
            <a:off x="777240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내용과 서비스 화면</a:t>
            </a:r>
            <a:endParaRPr/>
          </a:p>
        </p:txBody>
      </p:sp>
      <p:sp>
        <p:nvSpPr>
          <p:cNvPr id="939" name="Google Shape;939;p38"/>
          <p:cNvSpPr txBox="1"/>
          <p:nvPr/>
        </p:nvSpPr>
        <p:spPr>
          <a:xfrm>
            <a:off x="777240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데이터 규모·분석 범위·처리 기준·평가와 한계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첨부된 스크린샷·GIF 발췌</a:t>
            </a:r>
            <a:endParaRPr/>
          </a:p>
        </p:txBody>
      </p:sp>
      <p:sp>
        <p:nvSpPr>
          <p:cNvPr id="940" name="Google Shape;940;p38"/>
          <p:cNvSpPr/>
          <p:nvPr/>
        </p:nvSpPr>
        <p:spPr>
          <a:xfrm>
            <a:off x="5145024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41" name="Google Shape;941;p38"/>
          <p:cNvSpPr/>
          <p:nvPr/>
        </p:nvSpPr>
        <p:spPr>
          <a:xfrm>
            <a:off x="5145024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42" name="Google Shape;942;p38"/>
          <p:cNvSpPr txBox="1"/>
          <p:nvPr/>
        </p:nvSpPr>
        <p:spPr>
          <a:xfrm>
            <a:off x="5373624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핵심 코드 PDF</a:t>
            </a:r>
            <a:endParaRPr/>
          </a:p>
        </p:txBody>
      </p:sp>
      <p:sp>
        <p:nvSpPr>
          <p:cNvPr id="943" name="Google Shape;943;p38"/>
          <p:cNvSpPr txBox="1"/>
          <p:nvPr/>
        </p:nvSpPr>
        <p:spPr>
          <a:xfrm>
            <a:off x="5373624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23개 코드 해설</a:t>
            </a:r>
            <a:endParaRPr/>
          </a:p>
        </p:txBody>
      </p:sp>
      <p:sp>
        <p:nvSpPr>
          <p:cNvPr id="944" name="Google Shape;944;p38"/>
          <p:cNvSpPr txBox="1"/>
          <p:nvPr/>
        </p:nvSpPr>
        <p:spPr>
          <a:xfrm>
            <a:off x="5373624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모든 코드 주제를 해당 분석 단계에 배치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파일·행 번호·원본 링크 유지</a:t>
            </a:r>
            <a:endParaRPr/>
          </a:p>
        </p:txBody>
      </p:sp>
      <p:sp>
        <p:nvSpPr>
          <p:cNvPr id="945" name="Google Shape;945;p38"/>
          <p:cNvSpPr/>
          <p:nvPr/>
        </p:nvSpPr>
        <p:spPr>
          <a:xfrm>
            <a:off x="9741408" y="2788920"/>
            <a:ext cx="434035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46" name="Google Shape;946;p38"/>
          <p:cNvSpPr/>
          <p:nvPr/>
        </p:nvSpPr>
        <p:spPr>
          <a:xfrm>
            <a:off x="9741408" y="2788920"/>
            <a:ext cx="4340352" cy="50292"/>
          </a:xfrm>
          <a:prstGeom prst="rect">
            <a:avLst/>
          </a:prstGeom>
          <a:solidFill>
            <a:srgbClr val="0079B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947" name="Google Shape;947;p38"/>
          <p:cNvSpPr txBox="1"/>
          <p:nvPr/>
        </p:nvSpPr>
        <p:spPr>
          <a:xfrm>
            <a:off x="9970008" y="3081528"/>
            <a:ext cx="3883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79B8"/>
                </a:solidFill>
                <a:latin typeface="Sen"/>
                <a:ea typeface="Sen"/>
                <a:cs typeface="Sen"/>
                <a:sym typeface="Sen"/>
              </a:rPr>
              <a:t>컬러 리뉴얼 PDF</a:t>
            </a:r>
            <a:endParaRPr/>
          </a:p>
        </p:txBody>
      </p:sp>
      <p:sp>
        <p:nvSpPr>
          <p:cNvPr id="948" name="Google Shape;948;p38"/>
          <p:cNvSpPr txBox="1"/>
          <p:nvPr/>
        </p:nvSpPr>
        <p:spPr>
          <a:xfrm>
            <a:off x="9970008" y="3657600"/>
            <a:ext cx="388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3243A"/>
                </a:solidFill>
                <a:latin typeface="Sen"/>
                <a:ea typeface="Sen"/>
                <a:cs typeface="Sen"/>
                <a:sym typeface="Sen"/>
              </a:rPr>
              <a:t>가독성과 구성</a:t>
            </a:r>
            <a:endParaRPr/>
          </a:p>
        </p:txBody>
      </p:sp>
      <p:sp>
        <p:nvSpPr>
          <p:cNvPr id="949" name="Google Shape;949;p38"/>
          <p:cNvSpPr txBox="1"/>
          <p:nvPr/>
        </p:nvSpPr>
        <p:spPr>
          <a:xfrm>
            <a:off x="9970008" y="4754880"/>
            <a:ext cx="38831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진한 제목·밝은 본문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블루 강조·충분한 여백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핵심 수치·차트로 전달</a:t>
            </a:r>
            <a:endParaRPr/>
          </a:p>
        </p:txBody>
      </p:sp>
      <p:sp>
        <p:nvSpPr>
          <p:cNvPr id="950" name="Google Shape;950;p38"/>
          <p:cNvSpPr txBox="1"/>
          <p:nvPr/>
        </p:nvSpPr>
        <p:spPr>
          <a:xfrm>
            <a:off x="640080" y="6675120"/>
            <a:ext cx="1316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2657B"/>
                </a:solidFill>
                <a:latin typeface="Sen"/>
                <a:ea typeface="Sen"/>
                <a:cs typeface="Sen"/>
                <a:sym typeface="Sen"/>
              </a:rPr>
              <a:t>소스 기준 b7bc901 · data/raw·processed CSV 실측 · q4_prediction_result.csv 재계산. 코드 전문과 추가 설명은 발표 노트에 수록했습니다.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